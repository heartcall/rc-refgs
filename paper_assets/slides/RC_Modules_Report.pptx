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 type="wide"/>
  <p:notesSz cx="6858000" cy="9144000"/>
  <p:defaultTextStyle>
    <a:defPPr>
      <a:defRPr lang="zh-CN"/>
    </a:defPPr>
  </p:defaultTextStyle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slide" Target="slides/slide4.xml"/>
<Relationship Id="rId6" Type="http://schemas.openxmlformats.org/officeDocument/2006/relationships/slide" Target="slides/slide5.xml"/>
<Relationship Id="rId7" Type="http://schemas.openxmlformats.org/officeDocument/2006/relationships/slide" Target="slides/slide6.xml"/>
<Relationship Id="rId8" Type="http://schemas.openxmlformats.org/officeDocument/2006/relationships/slide" Target="slides/slide7.xml"/>
<Relationship Id="rId9" Type="http://schemas.openxmlformats.org/officeDocument/2006/relationships/slide" Target="slides/slide8.xml"/>
<Relationship Id="rId10" Type="http://schemas.openxmlformats.org/officeDocument/2006/relationships/slide" Target="slides/slide9.xml"/>
<Relationship Id="rId11" Type="http://schemas.openxmlformats.org/officeDocument/2006/relationships/slide" Target="slides/slide10.xml"/>
<Relationship Id="rId12" Type="http://schemas.openxmlformats.org/officeDocument/2006/relationships/slide" Target="slides/slide11.xml"/>
<Relationship Id="rId13" Type="http://schemas.openxmlformats.org/officeDocument/2006/relationships/slide" Target="slides/slide12.xml"/>
<Relationship Id="rId14" Type="http://schemas.openxmlformats.org/officeDocument/2006/relationships/slide" Target="slides/slide13.xml"/>
<Relationship Id="rId15" Type="http://schemas.openxmlformats.org/officeDocument/2006/relationships/slide" Target="slides/slide14.xml"/>
<Relationship Id="rId16" Type="http://schemas.openxmlformats.org/officeDocument/2006/relationships/slide" Target="slides/slide15.xml"/>
<Relationship Id="rId17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fig1_rc_win_count_by_metric.png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figD1_refl_metric_improvements_by_scene.png"/>
</Relationships>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figD2_consistency_vs_refl_quality_tradeoff.png"/>
</Relationships>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figD3_ablation_refl_metrics_heatmap.png"/>
</Relationships>
</file>

<file path=ppt/slides/_rels/slide1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9998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" name="cover title"/>
          <p:cNvSpPr txBox="1"/>
          <p:nvPr/>
        </p:nvSpPr>
        <p:spPr>
          <a:xfrm>
            <a:off x="658368" y="1051560"/>
            <a:ext cx="10789920" cy="10515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3100" b="1">
                <a:solidFill>
                  <a:srgbClr val="1E3A8A"/>
                </a:solidFill>
                <a:latin typeface="Aptos"/>
                <a:ea typeface="Microsoft YaHei"/>
                <a:cs typeface="Microsoft YaHei"/>
              </a:rPr>
              <a:t>RC 模块组：跨视角反射一致性优化的</a:t>
            </a:r>
          </a:p>
          <a:p>
            <a:pPr algn="l"/>
            <a:r>
              <a:rPr lang="zh-CN" sz="3100" b="1">
                <a:solidFill>
                  <a:srgbClr val="1E3A8A"/>
                </a:solidFill>
                <a:latin typeface="Aptos"/>
                <a:ea typeface="Microsoft YaHei"/>
                <a:cs typeface="Microsoft YaHei"/>
              </a:rPr>
              <a:t>阶段性结果与问题诊断</a:t>
            </a:r>
          </a:p>
        </p:txBody>
      </p:sp>
      <p:sp>
        <p:nvSpPr>
          <p:cNvPr id="3" name="cover subtitle"/>
          <p:cNvSpPr txBox="1"/>
          <p:nvPr/>
        </p:nvSpPr>
        <p:spPr>
          <a:xfrm>
            <a:off x="694944" y="233172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800" b="0">
                <a:solidFill>
                  <a:srgbClr val="64748B"/>
                </a:solidFill>
                <a:latin typeface="Aptos"/>
                <a:ea typeface="Microsoft YaHei"/>
                <a:cs typeface="Microsoft YaHei"/>
              </a:rPr>
              <a:t>From Reflection Consistency to Geometry-aware Reconstruction</a:t>
            </a:r>
          </a:p>
        </p:txBody>
      </p:sp>
      <p:sp>
        <p:nvSpPr>
          <p:cNvPr id="4" name="cover line"/>
          <p:cNvSpPr/>
          <p:nvPr/>
        </p:nvSpPr>
        <p:spPr>
          <a:xfrm>
            <a:off x="694944" y="2953512"/>
            <a:ext cx="5120640" cy="36576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</p:sp>
      <p:sp>
        <p:nvSpPr>
          <p:cNvPr id="5" name="cover scope"/>
          <p:cNvSpPr txBox="1"/>
          <p:nvPr/>
        </p:nvSpPr>
        <p:spPr>
          <a:xfrm>
            <a:off x="713232" y="5148072"/>
            <a:ext cx="9509760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3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数据范围：FD-P2-lite / non-Shiny-Real / completed runs</a:t>
            </a:r>
          </a:p>
          <a:p>
            <a:pPr algn="l"/>
            <a:r>
              <a:rPr lang="zh-CN" sz="13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汇报定位：研究进展、实验结果、问题诊断与下一步方向</a:t>
            </a:r>
          </a:p>
        </p:txBody>
      </p:sp>
      <p:sp>
        <p:nvSpPr>
          <p:cNvPr id="6" name="cover date"/>
          <p:cNvSpPr txBox="1"/>
          <p:nvPr/>
        </p:nvSpPr>
        <p:spPr>
          <a:xfrm>
            <a:off x="713232" y="594360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000" b="0">
                <a:solidFill>
                  <a:srgbClr val="64748B"/>
                </a:solidFill>
                <a:latin typeface="Aptos"/>
                <a:ea typeface="Microsoft YaHei"/>
                <a:cs typeface="Microsoft YaHei"/>
              </a:rPr>
              <a:t>2026-06-05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9998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2500" b="1">
                <a:solidFill>
                  <a:srgbClr val="1E3A8A"/>
                </a:solidFill>
                <a:latin typeface="Aptos"/>
                <a:ea typeface="Microsoft YaHei"/>
                <a:cs typeface="Microsoft YaHei"/>
              </a:rPr>
              <a:t>高反射场景的核心难点不是“亮”，而是 view-dependent ambiguity</a:t>
            </a:r>
          </a:p>
        </p:txBody>
      </p:sp>
      <p:sp>
        <p:nvSpPr>
          <p:cNvPr id="4" name="rule"/>
          <p:cNvSpPr/>
          <p:nvPr/>
        </p:nvSpPr>
        <p:spPr>
          <a:xfrm>
            <a:off x="502920" y="1024128"/>
            <a:ext cx="11201400" cy="13716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</p:sp>
      <p:sp>
        <p:nvSpPr>
          <p:cNvPr id="10" name="mot bullets"/>
          <p:cNvSpPr txBox="1"/>
          <p:nvPr/>
        </p:nvSpPr>
        <p:spPr>
          <a:xfrm>
            <a:off x="713232" y="1325880"/>
            <a:ext cx="5532120" cy="2240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5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• 镜面反射、折射与近场照明导致外观随视角强烈变化</a:t>
            </a:r>
          </a:p>
          <a:p>
            <a:pPr algn="l"/>
            <a:r>
              <a:rPr lang="zh-CN" sz="15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• 多视角 RGB loss 可以拟合像素，但不自动约束反射几何对应</a:t>
            </a:r>
          </a:p>
          <a:p>
            <a:pPr algn="l"/>
            <a:r>
              <a:rPr lang="zh-CN" sz="15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• 高光可能被吸收到颜色、方向查询、alpha 或局部特征中</a:t>
            </a:r>
          </a:p>
          <a:p>
            <a:pPr algn="l"/>
            <a:r>
              <a:rPr lang="zh-CN" sz="15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• 目标：让反射预测在几何一致区域中更稳定，而非追求单一指标最优</a:t>
            </a:r>
          </a:p>
        </p:txBody>
      </p:sp>
      <p:sp>
        <p:nvSpPr>
          <p:cNvPr id="20" name="传统拟合路径"/>
          <p:cNvSpPr/>
          <p:nvPr/>
        </p:nvSpPr>
        <p:spPr>
          <a:xfrm>
            <a:off x="6537960" y="1280160"/>
            <a:ext cx="205740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20" name="传统拟合路径 head"/>
          <p:cNvSpPr txBox="1"/>
          <p:nvPr/>
        </p:nvSpPr>
        <p:spPr>
          <a:xfrm>
            <a:off x="6611112" y="1335024"/>
            <a:ext cx="191109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200" b="1">
                <a:solidFill>
                  <a:srgbClr val="D97706"/>
                </a:solidFill>
                <a:latin typeface="Aptos"/>
                <a:ea typeface="Microsoft YaHei"/>
                <a:cs typeface="Microsoft YaHei"/>
              </a:rPr>
              <a:t>传统拟合路径</a:t>
            </a:r>
          </a:p>
        </p:txBody>
      </p:sp>
      <p:sp>
        <p:nvSpPr>
          <p:cNvPr id="220" name="传统拟合路径 body"/>
          <p:cNvSpPr txBox="1"/>
          <p:nvPr/>
        </p:nvSpPr>
        <p:spPr>
          <a:xfrm>
            <a:off x="6611112" y="1627632"/>
            <a:ext cx="1911096" cy="66751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0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view-dependent color query</a:t>
            </a:r>
          </a:p>
          <a:p>
            <a:pPr algn="l"/>
            <a:r>
              <a:rPr lang="zh-CN" sz="10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解释单视角高光</a:t>
            </a:r>
          </a:p>
        </p:txBody>
      </p:sp>
      <p:sp>
        <p:nvSpPr>
          <p:cNvPr id="30" name="本文关注路径"/>
          <p:cNvSpPr/>
          <p:nvPr/>
        </p:nvSpPr>
        <p:spPr>
          <a:xfrm>
            <a:off x="9006840" y="1280160"/>
            <a:ext cx="214884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30" name="本文关注路径 head"/>
          <p:cNvSpPr txBox="1"/>
          <p:nvPr/>
        </p:nvSpPr>
        <p:spPr>
          <a:xfrm>
            <a:off x="9079992" y="1335024"/>
            <a:ext cx="200253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200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本文关注路径</a:t>
            </a:r>
          </a:p>
        </p:txBody>
      </p:sp>
      <p:sp>
        <p:nvSpPr>
          <p:cNvPr id="230" name="本文关注路径 body"/>
          <p:cNvSpPr txBox="1"/>
          <p:nvPr/>
        </p:nvSpPr>
        <p:spPr>
          <a:xfrm>
            <a:off x="9079992" y="1627632"/>
            <a:ext cx="2002536" cy="66751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0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跨视角几何对应约束 specular</a:t>
            </a:r>
          </a:p>
          <a:p>
            <a:pPr algn="l"/>
            <a:r>
              <a:rPr lang="zh-CN" sz="10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stability</a:t>
            </a:r>
          </a:p>
        </p:txBody>
      </p:sp>
      <p:cxnSp>
        <p:nvCxnSpPr>
          <p:cNvPr id="80" name="line 80"/>
          <p:cNvCxnSpPr/>
          <p:nvPr/>
        </p:nvCxnSpPr>
        <p:spPr>
          <a:xfrm>
            <a:off x="8613648" y="1810512"/>
            <a:ext cx="329184" cy="0"/>
          </a:xfrm>
          <a:prstGeom prst="line">
            <a:avLst/>
          </a:prstGeom>
          <a:ln w="19050">
            <a:solidFill>
              <a:srgbClr val="64748B"/>
            </a:solidFill>
            <a:tailEnd type="triangle" w="sm" len="sm"/>
          </a:ln>
        </p:spPr>
      </p:cxnSp>
      <p:sp>
        <p:nvSpPr>
          <p:cNvPr id="90" name="bottom"/>
          <p:cNvSpPr txBox="1"/>
          <p:nvPr/>
        </p:nvSpPr>
        <p:spPr>
          <a:xfrm>
            <a:off x="731520" y="4983480"/>
            <a:ext cx="10698480" cy="502920"/>
          </a:xfrm>
          <a:prstGeom prst="roundRect">
            <a:avLst/>
          </a:prstGeom>
          <a:solidFill>
            <a:srgbClr val="EEF6FF"/>
          </a:solidFill>
          <a:ln w="9525">
            <a:solidFill>
              <a:srgbClr val="BFDBFE"/>
            </a:solidFill>
          </a:ln>
        </p:spPr>
        <p:txBody>
          <a:bodyPr wrap="square" lIns="91440" tIns="45720" rIns="91440" bIns="45720"/>
          <a:lstStyle/>
          <a:p>
            <a:pPr algn="c"/>
            <a:r>
              <a:rPr lang="zh-CN" sz="1600" b="1">
                <a:solidFill>
                  <a:srgbClr val="1E3A8A"/>
                </a:solidFill>
                <a:latin typeface="Aptos"/>
                <a:ea typeface="Microsoft YaHei"/>
                <a:cs typeface="Microsoft YaHei"/>
              </a:rPr>
              <a:t>关键判断：reflection consistency 是反射结构的内部约束，不等价于 full RGB 或 mesh quality。</a:t>
            </a:r>
          </a:p>
        </p:txBody>
      </p:sp>
      <p:sp>
        <p:nvSpPr>
          <p:cNvPr id="902" name="scope"/>
          <p:cNvSpPr txBox="1"/>
          <p:nvPr/>
        </p:nvSpPr>
        <p:spPr>
          <a:xfrm>
            <a:off x="502920" y="6419088"/>
            <a:ext cx="877824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800" b="0">
                <a:solidFill>
                  <a:srgbClr val="64748B"/>
                </a:solidFill>
                <a:latin typeface="Aptos"/>
                <a:ea typeface="Microsoft YaHei"/>
                <a:cs typeface="Microsoft YaHei"/>
              </a:rPr>
              <a:t>Scope: FD-P2-lite / non-Shiny-Real / completed runs</a:t>
            </a:r>
          </a:p>
        </p:txBody>
      </p:sp>
      <p:sp>
        <p:nvSpPr>
          <p:cNvPr id="952" name="page"/>
          <p:cNvSpPr txBox="1"/>
          <p:nvPr/>
        </p:nvSpPr>
        <p:spPr>
          <a:xfrm>
            <a:off x="11109960" y="6419088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zh-CN" sz="800" b="0">
                <a:solidFill>
                  <a:srgbClr val="64748B"/>
                </a:solidFill>
                <a:latin typeface="Aptos"/>
                <a:ea typeface="Microsoft YaHei"/>
                <a:cs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9998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2500" b="1">
                <a:solidFill>
                  <a:srgbClr val="1E3A8A"/>
                </a:solidFill>
                <a:latin typeface="Aptos"/>
                <a:ea typeface="Microsoft YaHei"/>
                <a:cs typeface="Microsoft YaHei"/>
              </a:rPr>
              <a:t>RC 模块组把反射约束下沉到 renderer-buffer 层</a:t>
            </a:r>
          </a:p>
        </p:txBody>
      </p:sp>
      <p:sp>
        <p:nvSpPr>
          <p:cNvPr id="4" name="rule"/>
          <p:cNvSpPr/>
          <p:nvPr/>
        </p:nvSpPr>
        <p:spPr>
          <a:xfrm>
            <a:off x="502920" y="1024128"/>
            <a:ext cx="11201400" cy="13716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</p:sp>
      <p:sp>
        <p:nvSpPr>
          <p:cNvPr id="10" name="1. Renderer buffers"/>
          <p:cNvSpPr/>
          <p:nvPr/>
        </p:nvSpPr>
        <p:spPr>
          <a:xfrm>
            <a:off x="685800" y="1417320"/>
            <a:ext cx="3063240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10" name="1. Renderer buffers head"/>
          <p:cNvSpPr txBox="1"/>
          <p:nvPr/>
        </p:nvSpPr>
        <p:spPr>
          <a:xfrm>
            <a:off x="758952" y="1472184"/>
            <a:ext cx="291693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200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1. Renderer buffers</a:t>
            </a:r>
          </a:p>
        </p:txBody>
      </p:sp>
      <p:sp>
        <p:nvSpPr>
          <p:cNvPr id="210" name="1. Renderer buffers body"/>
          <p:cNvSpPr txBox="1"/>
          <p:nvPr/>
        </p:nvSpPr>
        <p:spPr>
          <a:xfrm>
            <a:off x="758952" y="1764792"/>
            <a:ext cx="2916936" cy="9418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0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RGB / specular /</a:t>
            </a:r>
          </a:p>
          <a:p>
            <a:pPr algn="l"/>
            <a:r>
              <a:rPr lang="zh-CN" sz="10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confidence / alpha / depth</a:t>
            </a:r>
          </a:p>
          <a:p>
            <a:pPr algn="l"/>
            <a:r>
              <a:rPr lang="zh-CN" sz="10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/ normal</a:t>
            </a:r>
          </a:p>
        </p:txBody>
      </p:sp>
      <p:sp>
        <p:nvSpPr>
          <p:cNvPr id="20" name="2. Cross-view correspondence"/>
          <p:cNvSpPr/>
          <p:nvPr/>
        </p:nvSpPr>
        <p:spPr>
          <a:xfrm>
            <a:off x="4526280" y="1417320"/>
            <a:ext cx="3063240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20" name="2. Cross-view correspondence head"/>
          <p:cNvSpPr txBox="1"/>
          <p:nvPr/>
        </p:nvSpPr>
        <p:spPr>
          <a:xfrm>
            <a:off x="4599432" y="1472184"/>
            <a:ext cx="291693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200" b="1">
                <a:solidFill>
                  <a:srgbClr val="7C3AED"/>
                </a:solidFill>
                <a:latin typeface="Aptos"/>
                <a:ea typeface="Microsoft YaHei"/>
                <a:cs typeface="Microsoft YaHei"/>
              </a:rPr>
              <a:t>2. Cross-view correspondence</a:t>
            </a:r>
          </a:p>
        </p:txBody>
      </p:sp>
      <p:sp>
        <p:nvSpPr>
          <p:cNvPr id="220" name="2. Cross-view correspondence body"/>
          <p:cNvSpPr txBox="1"/>
          <p:nvPr/>
        </p:nvSpPr>
        <p:spPr>
          <a:xfrm>
            <a:off x="4599432" y="1764792"/>
            <a:ext cx="2916936" cy="9418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0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source depth 反投影 → target</a:t>
            </a:r>
          </a:p>
          <a:p>
            <a:pPr algn="l"/>
            <a:r>
              <a:rPr lang="zh-CN" sz="10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投影 → 可微采样</a:t>
            </a:r>
          </a:p>
        </p:txBody>
      </p:sp>
      <p:sp>
        <p:nvSpPr>
          <p:cNvPr id="30" name="3. Weighted RC loss"/>
          <p:cNvSpPr/>
          <p:nvPr/>
        </p:nvSpPr>
        <p:spPr>
          <a:xfrm>
            <a:off x="8366760" y="1417320"/>
            <a:ext cx="2880360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30" name="3. Weighted RC loss head"/>
          <p:cNvSpPr txBox="1"/>
          <p:nvPr/>
        </p:nvSpPr>
        <p:spPr>
          <a:xfrm>
            <a:off x="8439912" y="1472184"/>
            <a:ext cx="273405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200" b="1">
                <a:solidFill>
                  <a:srgbClr val="059669"/>
                </a:solidFill>
                <a:latin typeface="Aptos"/>
                <a:ea typeface="Microsoft YaHei"/>
                <a:cs typeface="Microsoft YaHei"/>
              </a:rPr>
              <a:t>3. Weighted RC loss</a:t>
            </a:r>
          </a:p>
        </p:txBody>
      </p:sp>
      <p:sp>
        <p:nvSpPr>
          <p:cNvPr id="230" name="3. Weighted RC loss body"/>
          <p:cNvSpPr txBox="1"/>
          <p:nvPr/>
        </p:nvSpPr>
        <p:spPr>
          <a:xfrm>
            <a:off x="8439912" y="1764792"/>
            <a:ext cx="2734056" cy="9418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0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alpha、depth、normal、confide</a:t>
            </a:r>
          </a:p>
          <a:p>
            <a:pPr algn="l"/>
            <a:r>
              <a:rPr lang="zh-CN" sz="10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nce 共同调制</a:t>
            </a:r>
          </a:p>
        </p:txBody>
      </p:sp>
      <p:cxnSp>
        <p:nvCxnSpPr>
          <p:cNvPr id="80" name="line 80"/>
          <p:cNvCxnSpPr/>
          <p:nvPr/>
        </p:nvCxnSpPr>
        <p:spPr>
          <a:xfrm>
            <a:off x="3822192" y="2057400"/>
            <a:ext cx="585216" cy="0"/>
          </a:xfrm>
          <a:prstGeom prst="line">
            <a:avLst/>
          </a:prstGeom>
          <a:ln w="19050">
            <a:solidFill>
              <a:srgbClr val="2563EB"/>
            </a:solidFill>
            <a:tailEnd type="triangle" w="sm" len="sm"/>
          </a:ln>
        </p:spPr>
      </p:cxnSp>
      <p:cxnSp>
        <p:nvCxnSpPr>
          <p:cNvPr id="81" name="line 81"/>
          <p:cNvCxnSpPr/>
          <p:nvPr/>
        </p:nvCxnSpPr>
        <p:spPr>
          <a:xfrm>
            <a:off x="7662672" y="2057400"/>
            <a:ext cx="585216" cy="0"/>
          </a:xfrm>
          <a:prstGeom prst="line">
            <a:avLst/>
          </a:prstGeom>
          <a:ln w="19050">
            <a:solidFill>
              <a:srgbClr val="2563EB"/>
            </a:solidFill>
            <a:tailEnd type="triangle" w="sm" len="sm"/>
          </a:ln>
        </p:spPr>
      </p:cxnSp>
      <p:sp>
        <p:nvSpPr>
          <p:cNvPr id="90" name="claim"/>
          <p:cNvSpPr txBox="1"/>
          <p:nvPr/>
        </p:nvSpPr>
        <p:spPr>
          <a:xfrm>
            <a:off x="868680" y="3840480"/>
            <a:ext cx="10149840" cy="8412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zh-CN" sz="1700" b="1">
                <a:solidFill>
                  <a:srgbClr val="1E3A8A"/>
                </a:solidFill>
                <a:latin typeface="Aptos"/>
                <a:ea typeface="Microsoft YaHei"/>
                <a:cs typeface="Microsoft YaHei"/>
              </a:rPr>
              <a:t>核心贡献不是 Ref-GS 的实现细节，而是可插拔反射一致性优化框架。</a:t>
            </a:r>
          </a:p>
          <a:p>
            <a:pPr algn="c"/>
            <a:r>
              <a:rPr lang="zh-CN" sz="1700" b="1">
                <a:solidFill>
                  <a:srgbClr val="1E3A8A"/>
                </a:solidFill>
                <a:latin typeface="Aptos"/>
                <a:ea typeface="Microsoft YaHei"/>
                <a:cs typeface="Microsoft YaHei"/>
              </a:rPr>
              <a:t>原则上，只要 renderer 提供语义等价 buffers，就可以接入 RC 模块组。</a:t>
            </a:r>
          </a:p>
        </p:txBody>
      </p:sp>
      <p:sp>
        <p:nvSpPr>
          <p:cNvPr id="903" name="scope"/>
          <p:cNvSpPr txBox="1"/>
          <p:nvPr/>
        </p:nvSpPr>
        <p:spPr>
          <a:xfrm>
            <a:off x="502920" y="6419088"/>
            <a:ext cx="877824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800" b="0">
                <a:solidFill>
                  <a:srgbClr val="64748B"/>
                </a:solidFill>
                <a:latin typeface="Aptos"/>
                <a:ea typeface="Microsoft YaHei"/>
                <a:cs typeface="Microsoft YaHei"/>
              </a:rPr>
              <a:t>Scope: FD-P2-lite / non-Shiny-Real / completed runs</a:t>
            </a:r>
          </a:p>
        </p:txBody>
      </p:sp>
      <p:sp>
        <p:nvSpPr>
          <p:cNvPr id="953" name="page"/>
          <p:cNvSpPr txBox="1"/>
          <p:nvPr/>
        </p:nvSpPr>
        <p:spPr>
          <a:xfrm>
            <a:off x="11109960" y="6419088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zh-CN" sz="800" b="0">
                <a:solidFill>
                  <a:srgbClr val="64748B"/>
                </a:solidFill>
                <a:latin typeface="Aptos"/>
                <a:ea typeface="Microsoft YaHei"/>
                <a:cs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9998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2500" b="1">
                <a:solidFill>
                  <a:srgbClr val="1E3A8A"/>
                </a:solidFill>
                <a:latin typeface="Aptos"/>
                <a:ea typeface="Microsoft YaHei"/>
                <a:cs typeface="Microsoft YaHei"/>
              </a:rPr>
              <a:t>Method overview：从 source depth 到 target specular consistency</a:t>
            </a:r>
          </a:p>
        </p:txBody>
      </p:sp>
      <p:sp>
        <p:nvSpPr>
          <p:cNvPr id="4" name="rule"/>
          <p:cNvSpPr/>
          <p:nvPr/>
        </p:nvSpPr>
        <p:spPr>
          <a:xfrm>
            <a:off x="502920" y="1024128"/>
            <a:ext cx="11201400" cy="13716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</p:sp>
      <p:sp>
        <p:nvSpPr>
          <p:cNvPr id="20" name="Source render"/>
          <p:cNvSpPr/>
          <p:nvPr/>
        </p:nvSpPr>
        <p:spPr>
          <a:xfrm>
            <a:off x="502920" y="1874520"/>
            <a:ext cx="187452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20" name="Source render head"/>
          <p:cNvSpPr txBox="1"/>
          <p:nvPr/>
        </p:nvSpPr>
        <p:spPr>
          <a:xfrm>
            <a:off x="576072" y="1929384"/>
            <a:ext cx="172821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200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Source render</a:t>
            </a:r>
          </a:p>
        </p:txBody>
      </p:sp>
      <p:sp>
        <p:nvSpPr>
          <p:cNvPr id="220" name="Source render body"/>
          <p:cNvSpPr txBox="1"/>
          <p:nvPr/>
        </p:nvSpPr>
        <p:spPr>
          <a:xfrm>
            <a:off x="576072" y="2221992"/>
            <a:ext cx="1728216" cy="5760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0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得到 S_s, A_s, D_s, N_s, C_s</a:t>
            </a:r>
          </a:p>
        </p:txBody>
      </p:sp>
      <p:cxnSp>
        <p:nvCxnSpPr>
          <p:cNvPr id="150" name="line 150"/>
          <p:cNvCxnSpPr/>
          <p:nvPr/>
        </p:nvCxnSpPr>
        <p:spPr>
          <a:xfrm>
            <a:off x="2441448" y="2395728"/>
            <a:ext cx="301752" cy="0"/>
          </a:xfrm>
          <a:prstGeom prst="line">
            <a:avLst/>
          </a:prstGeom>
          <a:ln w="19050">
            <a:solidFill>
              <a:srgbClr val="64748B"/>
            </a:solidFill>
            <a:tailEnd type="triangle" w="sm" len="sm"/>
          </a:ln>
        </p:spPr>
      </p:cxnSp>
      <p:sp>
        <p:nvSpPr>
          <p:cNvPr id="30" name="Back-project"/>
          <p:cNvSpPr/>
          <p:nvPr/>
        </p:nvSpPr>
        <p:spPr>
          <a:xfrm>
            <a:off x="2834640" y="2926080"/>
            <a:ext cx="187452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30" name="Back-project head"/>
          <p:cNvSpPr txBox="1"/>
          <p:nvPr/>
        </p:nvSpPr>
        <p:spPr>
          <a:xfrm>
            <a:off x="2907792" y="2980944"/>
            <a:ext cx="172821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200" b="1">
                <a:solidFill>
                  <a:srgbClr val="7C3AED"/>
                </a:solidFill>
                <a:latin typeface="Aptos"/>
                <a:ea typeface="Microsoft YaHei"/>
                <a:cs typeface="Microsoft YaHei"/>
              </a:rPr>
              <a:t>Back-project</a:t>
            </a:r>
          </a:p>
        </p:txBody>
      </p:sp>
      <p:sp>
        <p:nvSpPr>
          <p:cNvPr id="230" name="Back-project body"/>
          <p:cNvSpPr txBox="1"/>
          <p:nvPr/>
        </p:nvSpPr>
        <p:spPr>
          <a:xfrm>
            <a:off x="2907792" y="3273552"/>
            <a:ext cx="1728216" cy="5760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0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D_s(u)K_s^{-1}\bar{u}</a:t>
            </a:r>
          </a:p>
        </p:txBody>
      </p:sp>
      <p:cxnSp>
        <p:nvCxnSpPr>
          <p:cNvPr id="151" name="line 151"/>
          <p:cNvCxnSpPr/>
          <p:nvPr/>
        </p:nvCxnSpPr>
        <p:spPr>
          <a:xfrm>
            <a:off x="4773168" y="3429000"/>
            <a:ext cx="301752" cy="0"/>
          </a:xfrm>
          <a:prstGeom prst="line">
            <a:avLst/>
          </a:prstGeom>
          <a:ln w="19050">
            <a:solidFill>
              <a:srgbClr val="64748B"/>
            </a:solidFill>
            <a:tailEnd type="triangle" w="sm" len="sm"/>
          </a:ln>
        </p:spPr>
      </p:cxnSp>
      <p:sp>
        <p:nvSpPr>
          <p:cNvPr id="40" name="Target project"/>
          <p:cNvSpPr/>
          <p:nvPr/>
        </p:nvSpPr>
        <p:spPr>
          <a:xfrm>
            <a:off x="5166360" y="1874520"/>
            <a:ext cx="187452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40" name="Target project head"/>
          <p:cNvSpPr txBox="1"/>
          <p:nvPr/>
        </p:nvSpPr>
        <p:spPr>
          <a:xfrm>
            <a:off x="5239512" y="1929384"/>
            <a:ext cx="172821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200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Target project</a:t>
            </a:r>
          </a:p>
        </p:txBody>
      </p:sp>
      <p:sp>
        <p:nvSpPr>
          <p:cNvPr id="240" name="Target project body"/>
          <p:cNvSpPr txBox="1"/>
          <p:nvPr/>
        </p:nvSpPr>
        <p:spPr>
          <a:xfrm>
            <a:off x="5239512" y="2221992"/>
            <a:ext cx="1728216" cy="5760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0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v(u)=π(K_tT_t x_s)</a:t>
            </a:r>
          </a:p>
        </p:txBody>
      </p:sp>
      <p:cxnSp>
        <p:nvCxnSpPr>
          <p:cNvPr id="152" name="line 152"/>
          <p:cNvCxnSpPr/>
          <p:nvPr/>
        </p:nvCxnSpPr>
        <p:spPr>
          <a:xfrm>
            <a:off x="7104888" y="2395728"/>
            <a:ext cx="301752" cy="0"/>
          </a:xfrm>
          <a:prstGeom prst="line">
            <a:avLst/>
          </a:prstGeom>
          <a:ln w="19050">
            <a:solidFill>
              <a:srgbClr val="64748B"/>
            </a:solidFill>
            <a:tailEnd type="triangle" w="sm" len="sm"/>
          </a:ln>
        </p:spPr>
      </p:cxnSp>
      <p:sp>
        <p:nvSpPr>
          <p:cNvPr id="50" name="Sample target"/>
          <p:cNvSpPr/>
          <p:nvPr/>
        </p:nvSpPr>
        <p:spPr>
          <a:xfrm>
            <a:off x="7498080" y="2926080"/>
            <a:ext cx="187452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50" name="Sample target head"/>
          <p:cNvSpPr txBox="1"/>
          <p:nvPr/>
        </p:nvSpPr>
        <p:spPr>
          <a:xfrm>
            <a:off x="7571232" y="2980944"/>
            <a:ext cx="172821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200" b="1">
                <a:solidFill>
                  <a:srgbClr val="7C3AED"/>
                </a:solidFill>
                <a:latin typeface="Aptos"/>
                <a:ea typeface="Microsoft YaHei"/>
                <a:cs typeface="Microsoft YaHei"/>
              </a:rPr>
              <a:t>Sample target</a:t>
            </a:r>
          </a:p>
        </p:txBody>
      </p:sp>
      <p:sp>
        <p:nvSpPr>
          <p:cNvPr id="250" name="Sample target body"/>
          <p:cNvSpPr txBox="1"/>
          <p:nvPr/>
        </p:nvSpPr>
        <p:spPr>
          <a:xfrm>
            <a:off x="7571232" y="3273552"/>
            <a:ext cx="1728216" cy="5760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0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双线性采样 S_t, A_t, D_t, N_t</a:t>
            </a:r>
          </a:p>
        </p:txBody>
      </p:sp>
      <p:cxnSp>
        <p:nvCxnSpPr>
          <p:cNvPr id="153" name="line 153"/>
          <p:cNvCxnSpPr/>
          <p:nvPr/>
        </p:nvCxnSpPr>
        <p:spPr>
          <a:xfrm>
            <a:off x="9436608" y="3429000"/>
            <a:ext cx="301752" cy="0"/>
          </a:xfrm>
          <a:prstGeom prst="line">
            <a:avLst/>
          </a:prstGeom>
          <a:ln w="19050">
            <a:solidFill>
              <a:srgbClr val="64748B"/>
            </a:solidFill>
            <a:tailEnd type="triangle" w="sm" len="sm"/>
          </a:ln>
        </p:spPr>
      </p:cxnSp>
      <p:sp>
        <p:nvSpPr>
          <p:cNvPr id="60" name="Weighted loss"/>
          <p:cNvSpPr/>
          <p:nvPr/>
        </p:nvSpPr>
        <p:spPr>
          <a:xfrm>
            <a:off x="9829800" y="1874520"/>
            <a:ext cx="187452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60" name="Weighted loss head"/>
          <p:cNvSpPr txBox="1"/>
          <p:nvPr/>
        </p:nvSpPr>
        <p:spPr>
          <a:xfrm>
            <a:off x="9902952" y="1929384"/>
            <a:ext cx="172821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200" b="1">
                <a:solidFill>
                  <a:srgbClr val="059669"/>
                </a:solidFill>
                <a:latin typeface="Aptos"/>
                <a:ea typeface="Microsoft YaHei"/>
                <a:cs typeface="Microsoft YaHei"/>
              </a:rPr>
              <a:t>Weighted loss</a:t>
            </a:r>
          </a:p>
        </p:txBody>
      </p:sp>
      <p:sp>
        <p:nvSpPr>
          <p:cNvPr id="260" name="Weighted loss body"/>
          <p:cNvSpPr txBox="1"/>
          <p:nvPr/>
        </p:nvSpPr>
        <p:spPr>
          <a:xfrm>
            <a:off x="9902952" y="2221992"/>
            <a:ext cx="1728216" cy="5760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0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w(u)||sg(S_s)-S_t(v)||_1</a:t>
            </a:r>
          </a:p>
        </p:txBody>
      </p:sp>
      <p:sp>
        <p:nvSpPr>
          <p:cNvPr id="210" name="caution"/>
          <p:cNvSpPr txBox="1"/>
          <p:nvPr/>
        </p:nvSpPr>
        <p:spPr>
          <a:xfrm>
            <a:off x="731520" y="4800600"/>
            <a:ext cx="10607040" cy="640080"/>
          </a:xfrm>
          <a:prstGeom prst="roundRect">
            <a:avLst/>
          </a:prstGeom>
          <a:solidFill>
            <a:srgbClr val="FFF7ED"/>
          </a:solidFill>
          <a:ln w="9525">
            <a:solidFill>
              <a:srgbClr val="FED7AA"/>
            </a:solidFill>
          </a:ln>
        </p:spPr>
        <p:txBody>
          <a:bodyPr wrap="square" lIns="91440" tIns="45720" rIns="91440" bIns="45720"/>
          <a:lstStyle/>
          <a:p>
            <a:pPr algn="c"/>
            <a:r>
              <a:rPr lang="zh-CN" sz="14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注意：这里约束的是“可见、几何一致、置信度高的相邻视角对应区域”的反射预测稳定性，</a:t>
            </a:r>
          </a:p>
          <a:p>
            <a:pPr algn="c"/>
            <a:r>
              <a:rPr lang="zh-CN" sz="14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不是假设真实 specular radiance 跨视角严格相等。</a:t>
            </a:r>
          </a:p>
        </p:txBody>
      </p:sp>
      <p:sp>
        <p:nvSpPr>
          <p:cNvPr id="904" name="scope"/>
          <p:cNvSpPr txBox="1"/>
          <p:nvPr/>
        </p:nvSpPr>
        <p:spPr>
          <a:xfrm>
            <a:off x="502920" y="6419088"/>
            <a:ext cx="877824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800" b="0">
                <a:solidFill>
                  <a:srgbClr val="64748B"/>
                </a:solidFill>
                <a:latin typeface="Aptos"/>
                <a:ea typeface="Microsoft YaHei"/>
                <a:cs typeface="Microsoft YaHei"/>
              </a:rPr>
              <a:t>Scope: FD-P2-lite / non-Shiny-Real / completed runs</a:t>
            </a:r>
          </a:p>
        </p:txBody>
      </p:sp>
      <p:sp>
        <p:nvSpPr>
          <p:cNvPr id="954" name="page"/>
          <p:cNvSpPr txBox="1"/>
          <p:nvPr/>
        </p:nvSpPr>
        <p:spPr>
          <a:xfrm>
            <a:off x="11109960" y="6419088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zh-CN" sz="800" b="0">
                <a:solidFill>
                  <a:srgbClr val="64748B"/>
                </a:solidFill>
                <a:latin typeface="Aptos"/>
                <a:ea typeface="Microsoft YaHei"/>
                <a:cs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9998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2500" b="1">
                <a:solidFill>
                  <a:srgbClr val="1E3A8A"/>
                </a:solidFill>
                <a:latin typeface="Aptos"/>
                <a:ea typeface="Microsoft YaHei"/>
                <a:cs typeface="Microsoft YaHei"/>
              </a:rPr>
              <a:t>Buffer Interface：可迁移性来自最小 contract</a:t>
            </a:r>
          </a:p>
        </p:txBody>
      </p:sp>
      <p:sp>
        <p:nvSpPr>
          <p:cNvPr id="4" name="rule"/>
          <p:cNvSpPr/>
          <p:nvPr/>
        </p:nvSpPr>
        <p:spPr>
          <a:xfrm>
            <a:off x="502920" y="1024128"/>
            <a:ext cx="11201400" cy="13716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</p:sp>
      <p:sp>
        <p:nvSpPr>
          <p:cNvPr id="20" name="buf row 0"/>
          <p:cNvSpPr/>
          <p:nvPr/>
        </p:nvSpPr>
        <p:spPr>
          <a:xfrm>
            <a:off x="731520" y="1234440"/>
            <a:ext cx="10698480" cy="47548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</p:sp>
      <p:sp>
        <p:nvSpPr>
          <p:cNvPr id="60" name="buf name 0"/>
          <p:cNvSpPr txBox="1"/>
          <p:nvPr/>
        </p:nvSpPr>
        <p:spPr>
          <a:xfrm>
            <a:off x="914400" y="1307592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200" b="1">
                <a:solidFill>
                  <a:srgbClr val="1E3A8A"/>
                </a:solidFill>
                <a:latin typeface="Aptos"/>
                <a:ea typeface="Microsoft YaHei"/>
                <a:cs typeface="Microsoft YaHei"/>
              </a:rPr>
              <a:t>RGB</a:t>
            </a:r>
          </a:p>
        </p:txBody>
      </p:sp>
      <p:sp>
        <p:nvSpPr>
          <p:cNvPr id="90" name="buf desc 0"/>
          <p:cNvSpPr txBox="1"/>
          <p:nvPr/>
        </p:nvSpPr>
        <p:spPr>
          <a:xfrm>
            <a:off x="3337560" y="1307592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2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最终渲染颜色，用于常规重建项</a:t>
            </a:r>
          </a:p>
        </p:txBody>
      </p:sp>
      <p:sp>
        <p:nvSpPr>
          <p:cNvPr id="21" name="buf row 1"/>
          <p:cNvSpPr/>
          <p:nvPr/>
        </p:nvSpPr>
        <p:spPr>
          <a:xfrm>
            <a:off x="731520" y="1810512"/>
            <a:ext cx="1069848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61" name="buf name 1"/>
          <p:cNvSpPr txBox="1"/>
          <p:nvPr/>
        </p:nvSpPr>
        <p:spPr>
          <a:xfrm>
            <a:off x="914400" y="1883664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200" b="1">
                <a:solidFill>
                  <a:srgbClr val="1E3A8A"/>
                </a:solidFill>
                <a:latin typeface="Aptos"/>
                <a:ea typeface="Microsoft YaHei"/>
                <a:cs typeface="Microsoft YaHei"/>
              </a:rPr>
              <a:t>specular</a:t>
            </a:r>
          </a:p>
        </p:txBody>
      </p:sp>
      <p:sp>
        <p:nvSpPr>
          <p:cNvPr id="91" name="buf desc 1"/>
          <p:cNvSpPr txBox="1"/>
          <p:nvPr/>
        </p:nvSpPr>
        <p:spPr>
          <a:xfrm>
            <a:off x="3337560" y="1883664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2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view-dependent reflection 分量</a:t>
            </a:r>
          </a:p>
        </p:txBody>
      </p:sp>
      <p:sp>
        <p:nvSpPr>
          <p:cNvPr id="22" name="buf row 2"/>
          <p:cNvSpPr/>
          <p:nvPr/>
        </p:nvSpPr>
        <p:spPr>
          <a:xfrm>
            <a:off x="731520" y="2386584"/>
            <a:ext cx="10698480" cy="47548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</p:sp>
      <p:sp>
        <p:nvSpPr>
          <p:cNvPr id="62" name="buf name 2"/>
          <p:cNvSpPr txBox="1"/>
          <p:nvPr/>
        </p:nvSpPr>
        <p:spPr>
          <a:xfrm>
            <a:off x="914400" y="2459736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200" b="1">
                <a:solidFill>
                  <a:srgbClr val="1E3A8A"/>
                </a:solidFill>
                <a:latin typeface="Aptos"/>
                <a:ea typeface="Microsoft YaHei"/>
                <a:cs typeface="Microsoft YaHei"/>
              </a:rPr>
              <a:t>confidence</a:t>
            </a:r>
          </a:p>
        </p:txBody>
      </p:sp>
      <p:sp>
        <p:nvSpPr>
          <p:cNvPr id="92" name="buf desc 2"/>
          <p:cNvSpPr txBox="1"/>
          <p:nvPr/>
        </p:nvSpPr>
        <p:spPr>
          <a:xfrm>
            <a:off x="3337560" y="245973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2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反射/材质置信度，不强制解释为物理粗糙度</a:t>
            </a:r>
          </a:p>
        </p:txBody>
      </p:sp>
      <p:sp>
        <p:nvSpPr>
          <p:cNvPr id="23" name="buf row 3"/>
          <p:cNvSpPr/>
          <p:nvPr/>
        </p:nvSpPr>
        <p:spPr>
          <a:xfrm>
            <a:off x="731520" y="2962656"/>
            <a:ext cx="1069848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63" name="buf name 3"/>
          <p:cNvSpPr txBox="1"/>
          <p:nvPr/>
        </p:nvSpPr>
        <p:spPr>
          <a:xfrm>
            <a:off x="914400" y="3035808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200" b="1">
                <a:solidFill>
                  <a:srgbClr val="1E3A8A"/>
                </a:solidFill>
                <a:latin typeface="Aptos"/>
                <a:ea typeface="Microsoft YaHei"/>
                <a:cs typeface="Microsoft YaHei"/>
              </a:rPr>
              <a:t>alpha</a:t>
            </a:r>
          </a:p>
        </p:txBody>
      </p:sp>
      <p:sp>
        <p:nvSpPr>
          <p:cNvPr id="93" name="buf desc 3"/>
          <p:cNvSpPr txBox="1"/>
          <p:nvPr/>
        </p:nvSpPr>
        <p:spPr>
          <a:xfrm>
            <a:off x="3337560" y="3035808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2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可见性与投影有效性过滤</a:t>
            </a:r>
          </a:p>
        </p:txBody>
      </p:sp>
      <p:sp>
        <p:nvSpPr>
          <p:cNvPr id="24" name="buf row 4"/>
          <p:cNvSpPr/>
          <p:nvPr/>
        </p:nvSpPr>
        <p:spPr>
          <a:xfrm>
            <a:off x="731520" y="3538728"/>
            <a:ext cx="10698480" cy="47548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</p:sp>
      <p:sp>
        <p:nvSpPr>
          <p:cNvPr id="64" name="buf name 4"/>
          <p:cNvSpPr txBox="1"/>
          <p:nvPr/>
        </p:nvSpPr>
        <p:spPr>
          <a:xfrm>
            <a:off x="914400" y="3611880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200" b="1">
                <a:solidFill>
                  <a:srgbClr val="1E3A8A"/>
                </a:solidFill>
                <a:latin typeface="Aptos"/>
                <a:ea typeface="Microsoft YaHei"/>
                <a:cs typeface="Microsoft YaHei"/>
              </a:rPr>
              <a:t>depth</a:t>
            </a:r>
          </a:p>
        </p:txBody>
      </p:sp>
      <p:sp>
        <p:nvSpPr>
          <p:cNvPr id="94" name="buf desc 4"/>
          <p:cNvSpPr txBox="1"/>
          <p:nvPr/>
        </p:nvSpPr>
        <p:spPr>
          <a:xfrm>
            <a:off x="3337560" y="361188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2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source 反投影与 target depth consistency</a:t>
            </a:r>
          </a:p>
        </p:txBody>
      </p:sp>
      <p:sp>
        <p:nvSpPr>
          <p:cNvPr id="25" name="buf row 5"/>
          <p:cNvSpPr/>
          <p:nvPr/>
        </p:nvSpPr>
        <p:spPr>
          <a:xfrm>
            <a:off x="731520" y="4114800"/>
            <a:ext cx="1069848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65" name="buf name 5"/>
          <p:cNvSpPr txBox="1"/>
          <p:nvPr/>
        </p:nvSpPr>
        <p:spPr>
          <a:xfrm>
            <a:off x="914400" y="4187952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200" b="1">
                <a:solidFill>
                  <a:srgbClr val="1E3A8A"/>
                </a:solidFill>
                <a:latin typeface="Aptos"/>
                <a:ea typeface="Microsoft YaHei"/>
                <a:cs typeface="Microsoft YaHei"/>
              </a:rPr>
              <a:t>normal_render / normal_depth</a:t>
            </a:r>
          </a:p>
        </p:txBody>
      </p:sp>
      <p:sp>
        <p:nvSpPr>
          <p:cNvPr id="95" name="buf desc 5"/>
          <p:cNvSpPr txBox="1"/>
          <p:nvPr/>
        </p:nvSpPr>
        <p:spPr>
          <a:xfrm>
            <a:off x="3337560" y="4187952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2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法线一致性权重</a:t>
            </a:r>
          </a:p>
        </p:txBody>
      </p:sp>
      <p:sp>
        <p:nvSpPr>
          <p:cNvPr id="200" name="migration"/>
          <p:cNvSpPr txBox="1"/>
          <p:nvPr/>
        </p:nvSpPr>
        <p:spPr>
          <a:xfrm>
            <a:off x="777240" y="5074920"/>
            <a:ext cx="10424160" cy="5943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zh-CN" sz="1200" b="0">
                <a:solidFill>
                  <a:srgbClr val="64748B"/>
                </a:solidFill>
                <a:latin typeface="Aptos"/>
                <a:ea typeface="Microsoft YaHei"/>
                <a:cs typeface="Microsoft YaHei"/>
              </a:rPr>
              <a:t>原则上可接入：3DGS / 2DGS / GaussianShader / 3DGS-DR / NeRF-like reflective reconstruction。</a:t>
            </a:r>
          </a:p>
          <a:p>
            <a:pPr algn="c"/>
            <a:r>
              <a:rPr lang="zh-CN" sz="1200" b="0">
                <a:solidFill>
                  <a:srgbClr val="64748B"/>
                </a:solidFill>
                <a:latin typeface="Aptos"/>
                <a:ea typeface="Microsoft YaHei"/>
                <a:cs typeface="Microsoft YaHei"/>
              </a:rPr>
              <a:t>必要条件是提供语义等价的 image-space buffers，而非采用特定 Sph-Mip、light MLP 或 PBR 分支。</a:t>
            </a:r>
          </a:p>
        </p:txBody>
      </p:sp>
      <p:sp>
        <p:nvSpPr>
          <p:cNvPr id="905" name="scope"/>
          <p:cNvSpPr txBox="1"/>
          <p:nvPr/>
        </p:nvSpPr>
        <p:spPr>
          <a:xfrm>
            <a:off x="502920" y="6419088"/>
            <a:ext cx="877824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800" b="0">
                <a:solidFill>
                  <a:srgbClr val="64748B"/>
                </a:solidFill>
                <a:latin typeface="Aptos"/>
                <a:ea typeface="Microsoft YaHei"/>
                <a:cs typeface="Microsoft YaHei"/>
              </a:rPr>
              <a:t>Scope: FD-P2-lite / non-Shiny-Real / completed runs</a:t>
            </a:r>
          </a:p>
        </p:txBody>
      </p:sp>
      <p:sp>
        <p:nvSpPr>
          <p:cNvPr id="955" name="page"/>
          <p:cNvSpPr txBox="1"/>
          <p:nvPr/>
        </p:nvSpPr>
        <p:spPr>
          <a:xfrm>
            <a:off x="11109960" y="6419088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zh-CN" sz="800" b="0">
                <a:solidFill>
                  <a:srgbClr val="64748B"/>
                </a:solidFill>
                <a:latin typeface="Aptos"/>
                <a:ea typeface="Microsoft YaHei"/>
                <a:cs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9998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2500" b="1">
                <a:solidFill>
                  <a:srgbClr val="1E3A8A"/>
                </a:solidFill>
                <a:latin typeface="Aptos"/>
                <a:ea typeface="Microsoft YaHei"/>
                <a:cs typeface="Microsoft YaHei"/>
              </a:rPr>
              <a:t>主实验发现：RC 的稳定收益集中在 reflection consistency</a:t>
            </a:r>
          </a:p>
        </p:txBody>
      </p:sp>
      <p:sp>
        <p:nvSpPr>
          <p:cNvPr id="4" name="rule"/>
          <p:cNvSpPr/>
          <p:nvPr/>
        </p:nvSpPr>
        <p:spPr>
          <a:xfrm>
            <a:off x="502920" y="1024128"/>
            <a:ext cx="11201400" cy="13716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</p:sp>
      <p:sp>
        <p:nvSpPr>
          <p:cNvPr id="20" name="Consistency"/>
          <p:cNvSpPr/>
          <p:nvPr/>
        </p:nvSpPr>
        <p:spPr>
          <a:xfrm>
            <a:off x="8458200" y="1234440"/>
            <a:ext cx="306324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20" name="Consistency head"/>
          <p:cNvSpPr txBox="1"/>
          <p:nvPr/>
        </p:nvSpPr>
        <p:spPr>
          <a:xfrm>
            <a:off x="8531352" y="1289304"/>
            <a:ext cx="291693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200" b="1">
                <a:solidFill>
                  <a:srgbClr val="059669"/>
                </a:solidFill>
                <a:latin typeface="Aptos"/>
                <a:ea typeface="Microsoft YaHei"/>
                <a:cs typeface="Microsoft YaHei"/>
              </a:rPr>
              <a:t>Consistency</a:t>
            </a:r>
          </a:p>
        </p:txBody>
      </p:sp>
      <p:sp>
        <p:nvSpPr>
          <p:cNvPr id="220" name="Consistency body"/>
          <p:cNvSpPr txBox="1"/>
          <p:nvPr/>
        </p:nvSpPr>
        <p:spPr>
          <a:xfrm>
            <a:off x="8531352" y="1581912"/>
            <a:ext cx="2916936" cy="5760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0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train 14/14 wins; test</a:t>
            </a:r>
          </a:p>
          <a:p>
            <a:pPr algn="l"/>
            <a:r>
              <a:rPr lang="zh-CN" sz="10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13/14 wins</a:t>
            </a:r>
          </a:p>
        </p:txBody>
      </p:sp>
      <p:sp>
        <p:nvSpPr>
          <p:cNvPr id="30" name="RGB metrics"/>
          <p:cNvSpPr/>
          <p:nvPr/>
        </p:nvSpPr>
        <p:spPr>
          <a:xfrm>
            <a:off x="8458200" y="2514600"/>
            <a:ext cx="306324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30" name="RGB metrics head"/>
          <p:cNvSpPr txBox="1"/>
          <p:nvPr/>
        </p:nvSpPr>
        <p:spPr>
          <a:xfrm>
            <a:off x="8531352" y="2569464"/>
            <a:ext cx="291693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200" b="1">
                <a:solidFill>
                  <a:srgbClr val="D97706"/>
                </a:solidFill>
                <a:latin typeface="Aptos"/>
                <a:ea typeface="Microsoft YaHei"/>
                <a:cs typeface="Microsoft YaHei"/>
              </a:rPr>
              <a:t>RGB metrics</a:t>
            </a:r>
          </a:p>
        </p:txBody>
      </p:sp>
      <p:sp>
        <p:nvSpPr>
          <p:cNvPr id="230" name="RGB metrics body"/>
          <p:cNvSpPr txBox="1"/>
          <p:nvPr/>
        </p:nvSpPr>
        <p:spPr>
          <a:xfrm>
            <a:off x="8531352" y="2862072"/>
            <a:ext cx="2916936" cy="66751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0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full-image 与 reflective-</a:t>
            </a:r>
          </a:p>
          <a:p>
            <a:pPr algn="l"/>
            <a:r>
              <a:rPr lang="zh-CN" sz="10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region 指标呈 mixed behavior</a:t>
            </a:r>
          </a:p>
        </p:txBody>
      </p:sp>
      <p:sp>
        <p:nvSpPr>
          <p:cNvPr id="40" name="安全结论"/>
          <p:cNvSpPr/>
          <p:nvPr/>
        </p:nvSpPr>
        <p:spPr>
          <a:xfrm>
            <a:off x="8458200" y="3886200"/>
            <a:ext cx="306324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40" name="安全结论 head"/>
          <p:cNvSpPr txBox="1"/>
          <p:nvPr/>
        </p:nvSpPr>
        <p:spPr>
          <a:xfrm>
            <a:off x="8531352" y="3941064"/>
            <a:ext cx="291693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200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安全结论</a:t>
            </a:r>
          </a:p>
        </p:txBody>
      </p:sp>
      <p:sp>
        <p:nvSpPr>
          <p:cNvPr id="240" name="安全结论 body"/>
          <p:cNvSpPr txBox="1"/>
          <p:nvPr/>
        </p:nvSpPr>
        <p:spPr>
          <a:xfrm>
            <a:off x="8531352" y="4233672"/>
            <a:ext cx="2916936" cy="5760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0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RC 是 consistency</a:t>
            </a:r>
          </a:p>
          <a:p>
            <a:pPr algn="l"/>
            <a:r>
              <a:rPr lang="zh-CN" sz="10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regularizer，不是通用质量提升插件</a:t>
            </a:r>
          </a:p>
        </p:txBody>
      </p:sp>
      <p:sp>
        <p:nvSpPr>
          <p:cNvPr id="906" name="scope"/>
          <p:cNvSpPr txBox="1"/>
          <p:nvPr/>
        </p:nvSpPr>
        <p:spPr>
          <a:xfrm>
            <a:off x="502920" y="6419088"/>
            <a:ext cx="877824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800" b="0">
                <a:solidFill>
                  <a:srgbClr val="64748B"/>
                </a:solidFill>
                <a:latin typeface="Aptos"/>
                <a:ea typeface="Microsoft YaHei"/>
                <a:cs typeface="Microsoft YaHei"/>
              </a:rPr>
              <a:t>Scope: FD-P2-lite / non-Shiny-Real / completed runs</a:t>
            </a:r>
          </a:p>
        </p:txBody>
      </p:sp>
      <p:sp>
        <p:nvSpPr>
          <p:cNvPr id="956" name="page"/>
          <p:cNvSpPr txBox="1"/>
          <p:nvPr/>
        </p:nvSpPr>
        <p:spPr>
          <a:xfrm>
            <a:off x="11109960" y="6419088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zh-CN" sz="800" b="0">
                <a:solidFill>
                  <a:srgbClr val="64748B"/>
                </a:solidFill>
                <a:latin typeface="Aptos"/>
                <a:ea typeface="Microsoft YaHei"/>
                <a:cs typeface="Microsoft YaHei"/>
              </a:rPr>
              <a:t>06</a:t>
            </a:r>
          </a:p>
        </p:txBody>
      </p:sp>
      <p:pic>
        <p:nvPicPr>
          <p:cNvPr id="1001" name="fig1_rc_win_count_by_metr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685" y="1143000"/>
            <a:ext cx="7591149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9998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2500" b="1">
                <a:solidFill>
                  <a:srgbClr val="1E3A8A"/>
                </a:solidFill>
                <a:latin typeface="Aptos"/>
                <a:ea typeface="Microsoft YaHei"/>
                <a:cs typeface="Microsoft YaHei"/>
              </a:rPr>
              <a:t>Full metric table：平均值支持“逐指标报告”</a:t>
            </a:r>
          </a:p>
        </p:txBody>
      </p:sp>
      <p:sp>
        <p:nvSpPr>
          <p:cNvPr id="4" name="rule"/>
          <p:cNvSpPr/>
          <p:nvPr/>
        </p:nvSpPr>
        <p:spPr>
          <a:xfrm>
            <a:off x="502920" y="1024128"/>
            <a:ext cx="11201400" cy="13716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</p:sp>
      <p:sp>
        <p:nvSpPr>
          <p:cNvPr id="20" name="table bg"/>
          <p:cNvSpPr/>
          <p:nvPr/>
        </p:nvSpPr>
        <p:spPr>
          <a:xfrm>
            <a:off x="594360" y="1325880"/>
            <a:ext cx="10149840" cy="197510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30" name="th 0"/>
          <p:cNvSpPr/>
          <p:nvPr/>
        </p:nvSpPr>
        <p:spPr>
          <a:xfrm>
            <a:off x="594360" y="1325880"/>
            <a:ext cx="2011680" cy="329184"/>
          </a:xfrm>
          <a:prstGeom prst="rect">
            <a:avLst/>
          </a:prstGeom>
          <a:solidFill>
            <a:srgbClr val="EAF2FF"/>
          </a:solidFill>
          <a:ln w="9525">
            <a:solidFill>
              <a:srgbClr val="CBD5E1"/>
            </a:solidFill>
          </a:ln>
        </p:spPr>
      </p:sp>
      <p:sp>
        <p:nvSpPr>
          <p:cNvPr id="60" name="th text 0"/>
          <p:cNvSpPr txBox="1"/>
          <p:nvPr/>
        </p:nvSpPr>
        <p:spPr>
          <a:xfrm>
            <a:off x="594360" y="1344168"/>
            <a:ext cx="201168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zh-CN" sz="800" b="1">
                <a:solidFill>
                  <a:srgbClr val="1E3A8A"/>
                </a:solidFill>
                <a:latin typeface="Aptos"/>
                <a:ea typeface="Microsoft YaHei"/>
                <a:cs typeface="Microsoft YaHei"/>
              </a:rPr>
              <a:t>Dataset</a:t>
            </a:r>
          </a:p>
        </p:txBody>
      </p:sp>
      <p:sp>
        <p:nvSpPr>
          <p:cNvPr id="31" name="th 1"/>
          <p:cNvSpPr/>
          <p:nvPr/>
        </p:nvSpPr>
        <p:spPr>
          <a:xfrm>
            <a:off x="2606040" y="1325880"/>
            <a:ext cx="822960" cy="329184"/>
          </a:xfrm>
          <a:prstGeom prst="rect">
            <a:avLst/>
          </a:prstGeom>
          <a:solidFill>
            <a:srgbClr val="EAF2FF"/>
          </a:solidFill>
          <a:ln w="9525">
            <a:solidFill>
              <a:srgbClr val="CBD5E1"/>
            </a:solidFill>
          </a:ln>
        </p:spPr>
      </p:sp>
      <p:sp>
        <p:nvSpPr>
          <p:cNvPr id="61" name="th text 1"/>
          <p:cNvSpPr txBox="1"/>
          <p:nvPr/>
        </p:nvSpPr>
        <p:spPr>
          <a:xfrm>
            <a:off x="2606040" y="1344168"/>
            <a:ext cx="82296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zh-CN" sz="800" b="1">
                <a:solidFill>
                  <a:srgbClr val="1E3A8A"/>
                </a:solidFill>
                <a:latin typeface="Aptos"/>
                <a:ea typeface="Microsoft YaHei"/>
                <a:cs typeface="Microsoft YaHei"/>
              </a:rPr>
              <a:t>Split</a:t>
            </a:r>
          </a:p>
        </p:txBody>
      </p:sp>
      <p:sp>
        <p:nvSpPr>
          <p:cNvPr id="32" name="th 2"/>
          <p:cNvSpPr/>
          <p:nvPr/>
        </p:nvSpPr>
        <p:spPr>
          <a:xfrm>
            <a:off x="3429000" y="1325880"/>
            <a:ext cx="914400" cy="329184"/>
          </a:xfrm>
          <a:prstGeom prst="rect">
            <a:avLst/>
          </a:prstGeom>
          <a:solidFill>
            <a:srgbClr val="EAF2FF"/>
          </a:solidFill>
          <a:ln w="9525">
            <a:solidFill>
              <a:srgbClr val="CBD5E1"/>
            </a:solidFill>
          </a:ln>
        </p:spPr>
      </p:sp>
      <p:sp>
        <p:nvSpPr>
          <p:cNvPr id="62" name="th text 2"/>
          <p:cNvSpPr txBox="1"/>
          <p:nvPr/>
        </p:nvSpPr>
        <p:spPr>
          <a:xfrm>
            <a:off x="3429000" y="1344168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zh-CN" sz="800" b="1">
                <a:solidFill>
                  <a:srgbClr val="1E3A8A"/>
                </a:solidFill>
                <a:latin typeface="Aptos"/>
                <a:ea typeface="Microsoft YaHei"/>
                <a:cs typeface="Microsoft YaHei"/>
              </a:rPr>
              <a:t>RC↓</a:t>
            </a:r>
          </a:p>
          <a:p>
            <a:pPr algn="c"/>
            <a:r>
              <a:rPr lang="zh-CN" sz="800" b="1">
                <a:solidFill>
                  <a:srgbClr val="1E3A8A"/>
                </a:solidFill>
                <a:latin typeface="Aptos"/>
                <a:ea typeface="Microsoft YaHei"/>
                <a:cs typeface="Microsoft YaHei"/>
              </a:rPr>
              <a:t>Base</a:t>
            </a:r>
          </a:p>
        </p:txBody>
      </p:sp>
      <p:sp>
        <p:nvSpPr>
          <p:cNvPr id="33" name="th 3"/>
          <p:cNvSpPr/>
          <p:nvPr/>
        </p:nvSpPr>
        <p:spPr>
          <a:xfrm>
            <a:off x="4343400" y="1325880"/>
            <a:ext cx="914400" cy="329184"/>
          </a:xfrm>
          <a:prstGeom prst="rect">
            <a:avLst/>
          </a:prstGeom>
          <a:solidFill>
            <a:srgbClr val="EAF2FF"/>
          </a:solidFill>
          <a:ln w="9525">
            <a:solidFill>
              <a:srgbClr val="CBD5E1"/>
            </a:solidFill>
          </a:ln>
        </p:spPr>
      </p:sp>
      <p:sp>
        <p:nvSpPr>
          <p:cNvPr id="63" name="th text 3"/>
          <p:cNvSpPr txBox="1"/>
          <p:nvPr/>
        </p:nvSpPr>
        <p:spPr>
          <a:xfrm>
            <a:off x="4343400" y="1344168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zh-CN" sz="800" b="1">
                <a:solidFill>
                  <a:srgbClr val="1E3A8A"/>
                </a:solidFill>
                <a:latin typeface="Aptos"/>
                <a:ea typeface="Microsoft YaHei"/>
                <a:cs typeface="Microsoft YaHei"/>
              </a:rPr>
              <a:t>RC↓</a:t>
            </a:r>
          </a:p>
          <a:p>
            <a:pPr algn="c"/>
            <a:r>
              <a:rPr lang="zh-CN" sz="800" b="1">
                <a:solidFill>
                  <a:srgbClr val="1E3A8A"/>
                </a:solidFill>
                <a:latin typeface="Aptos"/>
                <a:ea typeface="Microsoft YaHei"/>
                <a:cs typeface="Microsoft YaHei"/>
              </a:rPr>
              <a:t>RC</a:t>
            </a:r>
          </a:p>
        </p:txBody>
      </p:sp>
      <p:sp>
        <p:nvSpPr>
          <p:cNvPr id="34" name="th 4"/>
          <p:cNvSpPr/>
          <p:nvPr/>
        </p:nvSpPr>
        <p:spPr>
          <a:xfrm>
            <a:off x="5257800" y="1325880"/>
            <a:ext cx="914400" cy="329184"/>
          </a:xfrm>
          <a:prstGeom prst="rect">
            <a:avLst/>
          </a:prstGeom>
          <a:solidFill>
            <a:srgbClr val="EAF2FF"/>
          </a:solidFill>
          <a:ln w="9525">
            <a:solidFill>
              <a:srgbClr val="CBD5E1"/>
            </a:solidFill>
          </a:ln>
        </p:spPr>
      </p:sp>
      <p:sp>
        <p:nvSpPr>
          <p:cNvPr id="64" name="th text 4"/>
          <p:cNvSpPr txBox="1"/>
          <p:nvPr/>
        </p:nvSpPr>
        <p:spPr>
          <a:xfrm>
            <a:off x="5257800" y="1344168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zh-CN" sz="800" b="1">
                <a:solidFill>
                  <a:srgbClr val="1E3A8A"/>
                </a:solidFill>
                <a:latin typeface="Aptos"/>
                <a:ea typeface="Microsoft YaHei"/>
                <a:cs typeface="Microsoft YaHei"/>
              </a:rPr>
              <a:t>PSNR↑</a:t>
            </a:r>
          </a:p>
          <a:p>
            <a:pPr algn="c"/>
            <a:r>
              <a:rPr lang="zh-CN" sz="800" b="1">
                <a:solidFill>
                  <a:srgbClr val="1E3A8A"/>
                </a:solidFill>
                <a:latin typeface="Aptos"/>
                <a:ea typeface="Microsoft YaHei"/>
                <a:cs typeface="Microsoft YaHei"/>
              </a:rPr>
              <a:t>Base</a:t>
            </a:r>
          </a:p>
        </p:txBody>
      </p:sp>
      <p:sp>
        <p:nvSpPr>
          <p:cNvPr id="35" name="th 5"/>
          <p:cNvSpPr/>
          <p:nvPr/>
        </p:nvSpPr>
        <p:spPr>
          <a:xfrm>
            <a:off x="6172200" y="1325880"/>
            <a:ext cx="914400" cy="329184"/>
          </a:xfrm>
          <a:prstGeom prst="rect">
            <a:avLst/>
          </a:prstGeom>
          <a:solidFill>
            <a:srgbClr val="EAF2FF"/>
          </a:solidFill>
          <a:ln w="9525">
            <a:solidFill>
              <a:srgbClr val="CBD5E1"/>
            </a:solidFill>
          </a:ln>
        </p:spPr>
      </p:sp>
      <p:sp>
        <p:nvSpPr>
          <p:cNvPr id="65" name="th text 5"/>
          <p:cNvSpPr txBox="1"/>
          <p:nvPr/>
        </p:nvSpPr>
        <p:spPr>
          <a:xfrm>
            <a:off x="6172200" y="1344168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zh-CN" sz="800" b="1">
                <a:solidFill>
                  <a:srgbClr val="1E3A8A"/>
                </a:solidFill>
                <a:latin typeface="Aptos"/>
                <a:ea typeface="Microsoft YaHei"/>
                <a:cs typeface="Microsoft YaHei"/>
              </a:rPr>
              <a:t>PSNR↑</a:t>
            </a:r>
          </a:p>
          <a:p>
            <a:pPr algn="c"/>
            <a:r>
              <a:rPr lang="zh-CN" sz="800" b="1">
                <a:solidFill>
                  <a:srgbClr val="1E3A8A"/>
                </a:solidFill>
                <a:latin typeface="Aptos"/>
                <a:ea typeface="Microsoft YaHei"/>
                <a:cs typeface="Microsoft YaHei"/>
              </a:rPr>
              <a:t>RC</a:t>
            </a:r>
          </a:p>
        </p:txBody>
      </p:sp>
      <p:sp>
        <p:nvSpPr>
          <p:cNvPr id="36" name="th 6"/>
          <p:cNvSpPr/>
          <p:nvPr/>
        </p:nvSpPr>
        <p:spPr>
          <a:xfrm>
            <a:off x="7086600" y="1325880"/>
            <a:ext cx="914400" cy="329184"/>
          </a:xfrm>
          <a:prstGeom prst="rect">
            <a:avLst/>
          </a:prstGeom>
          <a:solidFill>
            <a:srgbClr val="EAF2FF"/>
          </a:solidFill>
          <a:ln w="9525">
            <a:solidFill>
              <a:srgbClr val="CBD5E1"/>
            </a:solidFill>
          </a:ln>
        </p:spPr>
      </p:sp>
      <p:sp>
        <p:nvSpPr>
          <p:cNvPr id="66" name="th text 6"/>
          <p:cNvSpPr txBox="1"/>
          <p:nvPr/>
        </p:nvSpPr>
        <p:spPr>
          <a:xfrm>
            <a:off x="7086600" y="1344168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zh-CN" sz="800" b="1">
                <a:solidFill>
                  <a:srgbClr val="1E3A8A"/>
                </a:solidFill>
                <a:latin typeface="Aptos"/>
                <a:ea typeface="Microsoft YaHei"/>
                <a:cs typeface="Microsoft YaHei"/>
              </a:rPr>
              <a:t>SSIM↑</a:t>
            </a:r>
          </a:p>
          <a:p>
            <a:pPr algn="c"/>
            <a:r>
              <a:rPr lang="zh-CN" sz="800" b="1">
                <a:solidFill>
                  <a:srgbClr val="1E3A8A"/>
                </a:solidFill>
                <a:latin typeface="Aptos"/>
                <a:ea typeface="Microsoft YaHei"/>
                <a:cs typeface="Microsoft YaHei"/>
              </a:rPr>
              <a:t>Base</a:t>
            </a:r>
          </a:p>
        </p:txBody>
      </p:sp>
      <p:sp>
        <p:nvSpPr>
          <p:cNvPr id="37" name="th 7"/>
          <p:cNvSpPr/>
          <p:nvPr/>
        </p:nvSpPr>
        <p:spPr>
          <a:xfrm>
            <a:off x="8001000" y="1325880"/>
            <a:ext cx="914400" cy="329184"/>
          </a:xfrm>
          <a:prstGeom prst="rect">
            <a:avLst/>
          </a:prstGeom>
          <a:solidFill>
            <a:srgbClr val="EAF2FF"/>
          </a:solidFill>
          <a:ln w="9525">
            <a:solidFill>
              <a:srgbClr val="CBD5E1"/>
            </a:solidFill>
          </a:ln>
        </p:spPr>
      </p:sp>
      <p:sp>
        <p:nvSpPr>
          <p:cNvPr id="67" name="th text 7"/>
          <p:cNvSpPr txBox="1"/>
          <p:nvPr/>
        </p:nvSpPr>
        <p:spPr>
          <a:xfrm>
            <a:off x="8001000" y="1344168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zh-CN" sz="800" b="1">
                <a:solidFill>
                  <a:srgbClr val="1E3A8A"/>
                </a:solidFill>
                <a:latin typeface="Aptos"/>
                <a:ea typeface="Microsoft YaHei"/>
                <a:cs typeface="Microsoft YaHei"/>
              </a:rPr>
              <a:t>SSIM↑</a:t>
            </a:r>
          </a:p>
          <a:p>
            <a:pPr algn="c"/>
            <a:r>
              <a:rPr lang="zh-CN" sz="800" b="1">
                <a:solidFill>
                  <a:srgbClr val="1E3A8A"/>
                </a:solidFill>
                <a:latin typeface="Aptos"/>
                <a:ea typeface="Microsoft YaHei"/>
                <a:cs typeface="Microsoft YaHei"/>
              </a:rPr>
              <a:t>RC</a:t>
            </a:r>
          </a:p>
        </p:txBody>
      </p:sp>
      <p:sp>
        <p:nvSpPr>
          <p:cNvPr id="38" name="th 8"/>
          <p:cNvSpPr/>
          <p:nvPr/>
        </p:nvSpPr>
        <p:spPr>
          <a:xfrm>
            <a:off x="8915400" y="1325880"/>
            <a:ext cx="914400" cy="329184"/>
          </a:xfrm>
          <a:prstGeom prst="rect">
            <a:avLst/>
          </a:prstGeom>
          <a:solidFill>
            <a:srgbClr val="EAF2FF"/>
          </a:solidFill>
          <a:ln w="9525">
            <a:solidFill>
              <a:srgbClr val="CBD5E1"/>
            </a:solidFill>
          </a:ln>
        </p:spPr>
      </p:sp>
      <p:sp>
        <p:nvSpPr>
          <p:cNvPr id="68" name="th text 8"/>
          <p:cNvSpPr txBox="1"/>
          <p:nvPr/>
        </p:nvSpPr>
        <p:spPr>
          <a:xfrm>
            <a:off x="8915400" y="1344168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zh-CN" sz="800" b="1">
                <a:solidFill>
                  <a:srgbClr val="1E3A8A"/>
                </a:solidFill>
                <a:latin typeface="Aptos"/>
                <a:ea typeface="Microsoft YaHei"/>
                <a:cs typeface="Microsoft YaHei"/>
              </a:rPr>
              <a:t>LPIPS↓</a:t>
            </a:r>
          </a:p>
          <a:p>
            <a:pPr algn="c"/>
            <a:r>
              <a:rPr lang="zh-CN" sz="800" b="1">
                <a:solidFill>
                  <a:srgbClr val="1E3A8A"/>
                </a:solidFill>
                <a:latin typeface="Aptos"/>
                <a:ea typeface="Microsoft YaHei"/>
                <a:cs typeface="Microsoft YaHei"/>
              </a:rPr>
              <a:t>Base</a:t>
            </a:r>
          </a:p>
        </p:txBody>
      </p:sp>
      <p:sp>
        <p:nvSpPr>
          <p:cNvPr id="39" name="th 9"/>
          <p:cNvSpPr/>
          <p:nvPr/>
        </p:nvSpPr>
        <p:spPr>
          <a:xfrm>
            <a:off x="9829800" y="1325880"/>
            <a:ext cx="914400" cy="329184"/>
          </a:xfrm>
          <a:prstGeom prst="rect">
            <a:avLst/>
          </a:prstGeom>
          <a:solidFill>
            <a:srgbClr val="EAF2FF"/>
          </a:solidFill>
          <a:ln w="9525">
            <a:solidFill>
              <a:srgbClr val="CBD5E1"/>
            </a:solidFill>
          </a:ln>
        </p:spPr>
      </p:sp>
      <p:sp>
        <p:nvSpPr>
          <p:cNvPr id="69" name="th text 9"/>
          <p:cNvSpPr txBox="1"/>
          <p:nvPr/>
        </p:nvSpPr>
        <p:spPr>
          <a:xfrm>
            <a:off x="9829800" y="1344168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zh-CN" sz="800" b="1">
                <a:solidFill>
                  <a:srgbClr val="1E3A8A"/>
                </a:solidFill>
                <a:latin typeface="Aptos"/>
                <a:ea typeface="Microsoft YaHei"/>
                <a:cs typeface="Microsoft YaHei"/>
              </a:rPr>
              <a:t>LPIPS↓</a:t>
            </a:r>
          </a:p>
          <a:p>
            <a:pPr algn="c"/>
            <a:r>
              <a:rPr lang="zh-CN" sz="800" b="1">
                <a:solidFill>
                  <a:srgbClr val="1E3A8A"/>
                </a:solidFill>
                <a:latin typeface="Aptos"/>
                <a:ea typeface="Microsoft YaHei"/>
                <a:cs typeface="Microsoft YaHei"/>
              </a:rPr>
              <a:t>RC</a:t>
            </a:r>
          </a:p>
        </p:txBody>
      </p:sp>
      <p:sp>
        <p:nvSpPr>
          <p:cNvPr id="120" name="td 1-0"/>
          <p:cNvSpPr/>
          <p:nvPr/>
        </p:nvSpPr>
        <p:spPr>
          <a:xfrm>
            <a:off x="594360" y="1655064"/>
            <a:ext cx="20116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320" name="td text 1-0"/>
          <p:cNvSpPr txBox="1"/>
          <p:nvPr/>
        </p:nvSpPr>
        <p:spPr>
          <a:xfrm>
            <a:off x="594360" y="1682496"/>
            <a:ext cx="201168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zh-CN" sz="8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glossy
synthetic</a:t>
            </a:r>
          </a:p>
        </p:txBody>
      </p:sp>
      <p:sp>
        <p:nvSpPr>
          <p:cNvPr id="121" name="td 1-1"/>
          <p:cNvSpPr/>
          <p:nvPr/>
        </p:nvSpPr>
        <p:spPr>
          <a:xfrm>
            <a:off x="2606040" y="1655064"/>
            <a:ext cx="8229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321" name="td text 1-1"/>
          <p:cNvSpPr txBox="1"/>
          <p:nvPr/>
        </p:nvSpPr>
        <p:spPr>
          <a:xfrm>
            <a:off x="2606040" y="1682496"/>
            <a:ext cx="82296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zh-CN" sz="8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train</a:t>
            </a:r>
          </a:p>
        </p:txBody>
      </p:sp>
      <p:sp>
        <p:nvSpPr>
          <p:cNvPr id="122" name="td 1-2"/>
          <p:cNvSpPr/>
          <p:nvPr/>
        </p:nvSpPr>
        <p:spPr>
          <a:xfrm>
            <a:off x="3429000" y="1655064"/>
            <a:ext cx="9144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322" name="td text 1-2"/>
          <p:cNvSpPr txBox="1"/>
          <p:nvPr/>
        </p:nvSpPr>
        <p:spPr>
          <a:xfrm>
            <a:off x="3429000" y="1682496"/>
            <a:ext cx="91440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zh-CN" sz="8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0.1766</a:t>
            </a:r>
          </a:p>
        </p:txBody>
      </p:sp>
      <p:sp>
        <p:nvSpPr>
          <p:cNvPr id="123" name="td 1-3"/>
          <p:cNvSpPr/>
          <p:nvPr/>
        </p:nvSpPr>
        <p:spPr>
          <a:xfrm>
            <a:off x="4343400" y="1655064"/>
            <a:ext cx="9144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323" name="td text 1-3"/>
          <p:cNvSpPr txBox="1"/>
          <p:nvPr/>
        </p:nvSpPr>
        <p:spPr>
          <a:xfrm>
            <a:off x="4343400" y="1682496"/>
            <a:ext cx="91440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zh-CN" sz="800" b="1">
                <a:solidFill>
                  <a:srgbClr val="059669"/>
                </a:solidFill>
                <a:latin typeface="Aptos"/>
                <a:ea typeface="Microsoft YaHei"/>
                <a:cs typeface="Microsoft YaHei"/>
              </a:rPr>
              <a:t>0.1568</a:t>
            </a:r>
          </a:p>
        </p:txBody>
      </p:sp>
      <p:sp>
        <p:nvSpPr>
          <p:cNvPr id="124" name="td 1-4"/>
          <p:cNvSpPr/>
          <p:nvPr/>
        </p:nvSpPr>
        <p:spPr>
          <a:xfrm>
            <a:off x="5257800" y="1655064"/>
            <a:ext cx="9144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324" name="td text 1-4"/>
          <p:cNvSpPr txBox="1"/>
          <p:nvPr/>
        </p:nvSpPr>
        <p:spPr>
          <a:xfrm>
            <a:off x="5257800" y="1682496"/>
            <a:ext cx="91440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zh-CN" sz="800" b="1">
                <a:solidFill>
                  <a:srgbClr val="D97706"/>
                </a:solidFill>
                <a:latin typeface="Aptos"/>
                <a:ea typeface="Microsoft YaHei"/>
                <a:cs typeface="Microsoft YaHei"/>
              </a:rPr>
              <a:t>33.01</a:t>
            </a:r>
          </a:p>
        </p:txBody>
      </p:sp>
      <p:sp>
        <p:nvSpPr>
          <p:cNvPr id="125" name="td 1-5"/>
          <p:cNvSpPr/>
          <p:nvPr/>
        </p:nvSpPr>
        <p:spPr>
          <a:xfrm>
            <a:off x="6172200" y="1655064"/>
            <a:ext cx="9144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325" name="td text 1-5"/>
          <p:cNvSpPr txBox="1"/>
          <p:nvPr/>
        </p:nvSpPr>
        <p:spPr>
          <a:xfrm>
            <a:off x="6172200" y="1682496"/>
            <a:ext cx="91440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zh-CN" sz="8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33.00</a:t>
            </a:r>
          </a:p>
        </p:txBody>
      </p:sp>
      <p:sp>
        <p:nvSpPr>
          <p:cNvPr id="126" name="td 1-6"/>
          <p:cNvSpPr/>
          <p:nvPr/>
        </p:nvSpPr>
        <p:spPr>
          <a:xfrm>
            <a:off x="7086600" y="1655064"/>
            <a:ext cx="9144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326" name="td text 1-6"/>
          <p:cNvSpPr txBox="1"/>
          <p:nvPr/>
        </p:nvSpPr>
        <p:spPr>
          <a:xfrm>
            <a:off x="7086600" y="1682496"/>
            <a:ext cx="91440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zh-CN" sz="8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0.974</a:t>
            </a:r>
          </a:p>
        </p:txBody>
      </p:sp>
      <p:sp>
        <p:nvSpPr>
          <p:cNvPr id="127" name="td 1-7"/>
          <p:cNvSpPr/>
          <p:nvPr/>
        </p:nvSpPr>
        <p:spPr>
          <a:xfrm>
            <a:off x="8001000" y="1655064"/>
            <a:ext cx="9144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327" name="td text 1-7"/>
          <p:cNvSpPr txBox="1"/>
          <p:nvPr/>
        </p:nvSpPr>
        <p:spPr>
          <a:xfrm>
            <a:off x="8001000" y="1682496"/>
            <a:ext cx="91440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zh-CN" sz="800" b="1">
                <a:solidFill>
                  <a:srgbClr val="059669"/>
                </a:solidFill>
                <a:latin typeface="Aptos"/>
                <a:ea typeface="Microsoft YaHei"/>
                <a:cs typeface="Microsoft YaHei"/>
              </a:rPr>
              <a:t>0.974</a:t>
            </a:r>
          </a:p>
        </p:txBody>
      </p:sp>
      <p:sp>
        <p:nvSpPr>
          <p:cNvPr id="128" name="td 1-8"/>
          <p:cNvSpPr/>
          <p:nvPr/>
        </p:nvSpPr>
        <p:spPr>
          <a:xfrm>
            <a:off x="8915400" y="1655064"/>
            <a:ext cx="9144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328" name="td text 1-8"/>
          <p:cNvSpPr txBox="1"/>
          <p:nvPr/>
        </p:nvSpPr>
        <p:spPr>
          <a:xfrm>
            <a:off x="8915400" y="1682496"/>
            <a:ext cx="91440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zh-CN" sz="8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0.034</a:t>
            </a:r>
          </a:p>
        </p:txBody>
      </p:sp>
      <p:sp>
        <p:nvSpPr>
          <p:cNvPr id="129" name="td 1-9"/>
          <p:cNvSpPr/>
          <p:nvPr/>
        </p:nvSpPr>
        <p:spPr>
          <a:xfrm>
            <a:off x="9829800" y="1655064"/>
            <a:ext cx="9144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329" name="td text 1-9"/>
          <p:cNvSpPr txBox="1"/>
          <p:nvPr/>
        </p:nvSpPr>
        <p:spPr>
          <a:xfrm>
            <a:off x="9829800" y="1682496"/>
            <a:ext cx="91440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zh-CN" sz="800" b="1">
                <a:solidFill>
                  <a:srgbClr val="059669"/>
                </a:solidFill>
                <a:latin typeface="Aptos"/>
                <a:ea typeface="Microsoft YaHei"/>
                <a:cs typeface="Microsoft YaHei"/>
              </a:rPr>
              <a:t>0.034</a:t>
            </a:r>
          </a:p>
        </p:txBody>
      </p:sp>
      <p:sp>
        <p:nvSpPr>
          <p:cNvPr id="140" name="td 2-0"/>
          <p:cNvSpPr/>
          <p:nvPr/>
        </p:nvSpPr>
        <p:spPr>
          <a:xfrm>
            <a:off x="594360" y="1984248"/>
            <a:ext cx="2011680" cy="32918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</p:sp>
      <p:sp>
        <p:nvSpPr>
          <p:cNvPr id="340" name="td text 2-0"/>
          <p:cNvSpPr txBox="1"/>
          <p:nvPr/>
        </p:nvSpPr>
        <p:spPr>
          <a:xfrm>
            <a:off x="594360" y="2011680"/>
            <a:ext cx="201168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zh-CN" sz="8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glossy
synthetic</a:t>
            </a:r>
          </a:p>
        </p:txBody>
      </p:sp>
      <p:sp>
        <p:nvSpPr>
          <p:cNvPr id="141" name="td 2-1"/>
          <p:cNvSpPr/>
          <p:nvPr/>
        </p:nvSpPr>
        <p:spPr>
          <a:xfrm>
            <a:off x="2606040" y="1984248"/>
            <a:ext cx="822960" cy="32918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</p:sp>
      <p:sp>
        <p:nvSpPr>
          <p:cNvPr id="341" name="td text 2-1"/>
          <p:cNvSpPr txBox="1"/>
          <p:nvPr/>
        </p:nvSpPr>
        <p:spPr>
          <a:xfrm>
            <a:off x="2606040" y="2011680"/>
            <a:ext cx="82296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zh-CN" sz="8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test</a:t>
            </a:r>
          </a:p>
        </p:txBody>
      </p:sp>
      <p:sp>
        <p:nvSpPr>
          <p:cNvPr id="142" name="td 2-2"/>
          <p:cNvSpPr/>
          <p:nvPr/>
        </p:nvSpPr>
        <p:spPr>
          <a:xfrm>
            <a:off x="3429000" y="1984248"/>
            <a:ext cx="914400" cy="32918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</p:sp>
      <p:sp>
        <p:nvSpPr>
          <p:cNvPr id="342" name="td text 2-2"/>
          <p:cNvSpPr txBox="1"/>
          <p:nvPr/>
        </p:nvSpPr>
        <p:spPr>
          <a:xfrm>
            <a:off x="3429000" y="2011680"/>
            <a:ext cx="91440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zh-CN" sz="8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0.1796</a:t>
            </a:r>
          </a:p>
        </p:txBody>
      </p:sp>
      <p:sp>
        <p:nvSpPr>
          <p:cNvPr id="143" name="td 2-3"/>
          <p:cNvSpPr/>
          <p:nvPr/>
        </p:nvSpPr>
        <p:spPr>
          <a:xfrm>
            <a:off x="4343400" y="1984248"/>
            <a:ext cx="914400" cy="32918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</p:sp>
      <p:sp>
        <p:nvSpPr>
          <p:cNvPr id="343" name="td text 2-3"/>
          <p:cNvSpPr txBox="1"/>
          <p:nvPr/>
        </p:nvSpPr>
        <p:spPr>
          <a:xfrm>
            <a:off x="4343400" y="2011680"/>
            <a:ext cx="91440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zh-CN" sz="800" b="1">
                <a:solidFill>
                  <a:srgbClr val="059669"/>
                </a:solidFill>
                <a:latin typeface="Aptos"/>
                <a:ea typeface="Microsoft YaHei"/>
                <a:cs typeface="Microsoft YaHei"/>
              </a:rPr>
              <a:t>0.1595</a:t>
            </a:r>
          </a:p>
        </p:txBody>
      </p:sp>
      <p:sp>
        <p:nvSpPr>
          <p:cNvPr id="144" name="td 2-4"/>
          <p:cNvSpPr/>
          <p:nvPr/>
        </p:nvSpPr>
        <p:spPr>
          <a:xfrm>
            <a:off x="5257800" y="1984248"/>
            <a:ext cx="914400" cy="32918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</p:sp>
      <p:sp>
        <p:nvSpPr>
          <p:cNvPr id="344" name="td text 2-4"/>
          <p:cNvSpPr txBox="1"/>
          <p:nvPr/>
        </p:nvSpPr>
        <p:spPr>
          <a:xfrm>
            <a:off x="5257800" y="2011680"/>
            <a:ext cx="91440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zh-CN" sz="8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30.19</a:t>
            </a:r>
          </a:p>
        </p:txBody>
      </p:sp>
      <p:sp>
        <p:nvSpPr>
          <p:cNvPr id="145" name="td 2-5"/>
          <p:cNvSpPr/>
          <p:nvPr/>
        </p:nvSpPr>
        <p:spPr>
          <a:xfrm>
            <a:off x="6172200" y="1984248"/>
            <a:ext cx="914400" cy="32918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</p:sp>
      <p:sp>
        <p:nvSpPr>
          <p:cNvPr id="345" name="td text 2-5"/>
          <p:cNvSpPr txBox="1"/>
          <p:nvPr/>
        </p:nvSpPr>
        <p:spPr>
          <a:xfrm>
            <a:off x="6172200" y="2011680"/>
            <a:ext cx="91440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zh-CN" sz="800" b="1">
                <a:solidFill>
                  <a:srgbClr val="059669"/>
                </a:solidFill>
                <a:latin typeface="Aptos"/>
                <a:ea typeface="Microsoft YaHei"/>
                <a:cs typeface="Microsoft YaHei"/>
              </a:rPr>
              <a:t>30.22</a:t>
            </a:r>
          </a:p>
        </p:txBody>
      </p:sp>
      <p:sp>
        <p:nvSpPr>
          <p:cNvPr id="146" name="td 2-6"/>
          <p:cNvSpPr/>
          <p:nvPr/>
        </p:nvSpPr>
        <p:spPr>
          <a:xfrm>
            <a:off x="7086600" y="1984248"/>
            <a:ext cx="914400" cy="32918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</p:sp>
      <p:sp>
        <p:nvSpPr>
          <p:cNvPr id="346" name="td text 2-6"/>
          <p:cNvSpPr txBox="1"/>
          <p:nvPr/>
        </p:nvSpPr>
        <p:spPr>
          <a:xfrm>
            <a:off x="7086600" y="2011680"/>
            <a:ext cx="91440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zh-CN" sz="8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0.957</a:t>
            </a:r>
          </a:p>
        </p:txBody>
      </p:sp>
      <p:sp>
        <p:nvSpPr>
          <p:cNvPr id="147" name="td 2-7"/>
          <p:cNvSpPr/>
          <p:nvPr/>
        </p:nvSpPr>
        <p:spPr>
          <a:xfrm>
            <a:off x="8001000" y="1984248"/>
            <a:ext cx="914400" cy="32918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</p:sp>
      <p:sp>
        <p:nvSpPr>
          <p:cNvPr id="347" name="td text 2-7"/>
          <p:cNvSpPr txBox="1"/>
          <p:nvPr/>
        </p:nvSpPr>
        <p:spPr>
          <a:xfrm>
            <a:off x="8001000" y="2011680"/>
            <a:ext cx="91440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zh-CN" sz="800" b="1">
                <a:solidFill>
                  <a:srgbClr val="059669"/>
                </a:solidFill>
                <a:latin typeface="Aptos"/>
                <a:ea typeface="Microsoft YaHei"/>
                <a:cs typeface="Microsoft YaHei"/>
              </a:rPr>
              <a:t>0.957</a:t>
            </a:r>
          </a:p>
        </p:txBody>
      </p:sp>
      <p:sp>
        <p:nvSpPr>
          <p:cNvPr id="148" name="td 2-8"/>
          <p:cNvSpPr/>
          <p:nvPr/>
        </p:nvSpPr>
        <p:spPr>
          <a:xfrm>
            <a:off x="8915400" y="1984248"/>
            <a:ext cx="914400" cy="32918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</p:sp>
      <p:sp>
        <p:nvSpPr>
          <p:cNvPr id="348" name="td text 2-8"/>
          <p:cNvSpPr txBox="1"/>
          <p:nvPr/>
        </p:nvSpPr>
        <p:spPr>
          <a:xfrm>
            <a:off x="8915400" y="2011680"/>
            <a:ext cx="91440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zh-CN" sz="8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0.043</a:t>
            </a:r>
          </a:p>
        </p:txBody>
      </p:sp>
      <p:sp>
        <p:nvSpPr>
          <p:cNvPr id="149" name="td 2-9"/>
          <p:cNvSpPr/>
          <p:nvPr/>
        </p:nvSpPr>
        <p:spPr>
          <a:xfrm>
            <a:off x="9829800" y="1984248"/>
            <a:ext cx="914400" cy="32918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</p:sp>
      <p:sp>
        <p:nvSpPr>
          <p:cNvPr id="349" name="td text 2-9"/>
          <p:cNvSpPr txBox="1"/>
          <p:nvPr/>
        </p:nvSpPr>
        <p:spPr>
          <a:xfrm>
            <a:off x="9829800" y="2011680"/>
            <a:ext cx="91440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zh-CN" sz="800" b="1">
                <a:solidFill>
                  <a:srgbClr val="059669"/>
                </a:solidFill>
                <a:latin typeface="Aptos"/>
                <a:ea typeface="Microsoft YaHei"/>
                <a:cs typeface="Microsoft YaHei"/>
              </a:rPr>
              <a:t>0.043</a:t>
            </a:r>
          </a:p>
        </p:txBody>
      </p:sp>
      <p:sp>
        <p:nvSpPr>
          <p:cNvPr id="160" name="td 3-0"/>
          <p:cNvSpPr/>
          <p:nvPr/>
        </p:nvSpPr>
        <p:spPr>
          <a:xfrm>
            <a:off x="594360" y="2313432"/>
            <a:ext cx="20116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360" name="td text 3-0"/>
          <p:cNvSpPr txBox="1"/>
          <p:nvPr/>
        </p:nvSpPr>
        <p:spPr>
          <a:xfrm>
            <a:off x="594360" y="2340864"/>
            <a:ext cx="201168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zh-CN" sz="8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shiny
blender
synthetic</a:t>
            </a:r>
          </a:p>
        </p:txBody>
      </p:sp>
      <p:sp>
        <p:nvSpPr>
          <p:cNvPr id="161" name="td 3-1"/>
          <p:cNvSpPr/>
          <p:nvPr/>
        </p:nvSpPr>
        <p:spPr>
          <a:xfrm>
            <a:off x="2606040" y="2313432"/>
            <a:ext cx="8229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361" name="td text 3-1"/>
          <p:cNvSpPr txBox="1"/>
          <p:nvPr/>
        </p:nvSpPr>
        <p:spPr>
          <a:xfrm>
            <a:off x="2606040" y="2340864"/>
            <a:ext cx="82296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zh-CN" sz="8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train</a:t>
            </a:r>
          </a:p>
        </p:txBody>
      </p:sp>
      <p:sp>
        <p:nvSpPr>
          <p:cNvPr id="162" name="td 3-2"/>
          <p:cNvSpPr/>
          <p:nvPr/>
        </p:nvSpPr>
        <p:spPr>
          <a:xfrm>
            <a:off x="3429000" y="2313432"/>
            <a:ext cx="9144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362" name="td text 3-2"/>
          <p:cNvSpPr txBox="1"/>
          <p:nvPr/>
        </p:nvSpPr>
        <p:spPr>
          <a:xfrm>
            <a:off x="3429000" y="2340864"/>
            <a:ext cx="91440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zh-CN" sz="8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0.2464</a:t>
            </a:r>
          </a:p>
        </p:txBody>
      </p:sp>
      <p:sp>
        <p:nvSpPr>
          <p:cNvPr id="163" name="td 3-3"/>
          <p:cNvSpPr/>
          <p:nvPr/>
        </p:nvSpPr>
        <p:spPr>
          <a:xfrm>
            <a:off x="4343400" y="2313432"/>
            <a:ext cx="9144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363" name="td text 3-3"/>
          <p:cNvSpPr txBox="1"/>
          <p:nvPr/>
        </p:nvSpPr>
        <p:spPr>
          <a:xfrm>
            <a:off x="4343400" y="2340864"/>
            <a:ext cx="91440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zh-CN" sz="800" b="1">
                <a:solidFill>
                  <a:srgbClr val="059669"/>
                </a:solidFill>
                <a:latin typeface="Aptos"/>
                <a:ea typeface="Microsoft YaHei"/>
                <a:cs typeface="Microsoft YaHei"/>
              </a:rPr>
              <a:t>0.0992</a:t>
            </a:r>
          </a:p>
        </p:txBody>
      </p:sp>
      <p:sp>
        <p:nvSpPr>
          <p:cNvPr id="164" name="td 3-4"/>
          <p:cNvSpPr/>
          <p:nvPr/>
        </p:nvSpPr>
        <p:spPr>
          <a:xfrm>
            <a:off x="5257800" y="2313432"/>
            <a:ext cx="9144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364" name="td text 3-4"/>
          <p:cNvSpPr txBox="1"/>
          <p:nvPr/>
        </p:nvSpPr>
        <p:spPr>
          <a:xfrm>
            <a:off x="5257800" y="2340864"/>
            <a:ext cx="91440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zh-CN" sz="8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39.93</a:t>
            </a:r>
          </a:p>
        </p:txBody>
      </p:sp>
      <p:sp>
        <p:nvSpPr>
          <p:cNvPr id="165" name="td 3-5"/>
          <p:cNvSpPr/>
          <p:nvPr/>
        </p:nvSpPr>
        <p:spPr>
          <a:xfrm>
            <a:off x="6172200" y="2313432"/>
            <a:ext cx="9144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365" name="td text 3-5"/>
          <p:cNvSpPr txBox="1"/>
          <p:nvPr/>
        </p:nvSpPr>
        <p:spPr>
          <a:xfrm>
            <a:off x="6172200" y="2340864"/>
            <a:ext cx="91440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zh-CN" sz="800" b="1">
                <a:solidFill>
                  <a:srgbClr val="059669"/>
                </a:solidFill>
                <a:latin typeface="Aptos"/>
                <a:ea typeface="Microsoft YaHei"/>
                <a:cs typeface="Microsoft YaHei"/>
              </a:rPr>
              <a:t>40.00</a:t>
            </a:r>
          </a:p>
        </p:txBody>
      </p:sp>
      <p:sp>
        <p:nvSpPr>
          <p:cNvPr id="166" name="td 3-6"/>
          <p:cNvSpPr/>
          <p:nvPr/>
        </p:nvSpPr>
        <p:spPr>
          <a:xfrm>
            <a:off x="7086600" y="2313432"/>
            <a:ext cx="9144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366" name="td text 3-6"/>
          <p:cNvSpPr txBox="1"/>
          <p:nvPr/>
        </p:nvSpPr>
        <p:spPr>
          <a:xfrm>
            <a:off x="7086600" y="2340864"/>
            <a:ext cx="91440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zh-CN" sz="800" b="1">
                <a:solidFill>
                  <a:srgbClr val="D97706"/>
                </a:solidFill>
                <a:latin typeface="Aptos"/>
                <a:ea typeface="Microsoft YaHei"/>
                <a:cs typeface="Microsoft YaHei"/>
              </a:rPr>
              <a:t>0.989</a:t>
            </a:r>
          </a:p>
        </p:txBody>
      </p:sp>
      <p:sp>
        <p:nvSpPr>
          <p:cNvPr id="167" name="td 3-7"/>
          <p:cNvSpPr/>
          <p:nvPr/>
        </p:nvSpPr>
        <p:spPr>
          <a:xfrm>
            <a:off x="8001000" y="2313432"/>
            <a:ext cx="9144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367" name="td text 3-7"/>
          <p:cNvSpPr txBox="1"/>
          <p:nvPr/>
        </p:nvSpPr>
        <p:spPr>
          <a:xfrm>
            <a:off x="8001000" y="2340864"/>
            <a:ext cx="91440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zh-CN" sz="8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0.989</a:t>
            </a:r>
          </a:p>
        </p:txBody>
      </p:sp>
      <p:sp>
        <p:nvSpPr>
          <p:cNvPr id="168" name="td 3-8"/>
          <p:cNvSpPr/>
          <p:nvPr/>
        </p:nvSpPr>
        <p:spPr>
          <a:xfrm>
            <a:off x="8915400" y="2313432"/>
            <a:ext cx="9144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368" name="td text 3-8"/>
          <p:cNvSpPr txBox="1"/>
          <p:nvPr/>
        </p:nvSpPr>
        <p:spPr>
          <a:xfrm>
            <a:off x="8915400" y="2340864"/>
            <a:ext cx="91440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zh-CN" sz="800" b="1">
                <a:solidFill>
                  <a:srgbClr val="D97706"/>
                </a:solidFill>
                <a:latin typeface="Aptos"/>
                <a:ea typeface="Microsoft YaHei"/>
                <a:cs typeface="Microsoft YaHei"/>
              </a:rPr>
              <a:t>0.018</a:t>
            </a:r>
          </a:p>
        </p:txBody>
      </p:sp>
      <p:sp>
        <p:nvSpPr>
          <p:cNvPr id="169" name="td 3-9"/>
          <p:cNvSpPr/>
          <p:nvPr/>
        </p:nvSpPr>
        <p:spPr>
          <a:xfrm>
            <a:off x="9829800" y="2313432"/>
            <a:ext cx="9144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369" name="td text 3-9"/>
          <p:cNvSpPr txBox="1"/>
          <p:nvPr/>
        </p:nvSpPr>
        <p:spPr>
          <a:xfrm>
            <a:off x="9829800" y="2340864"/>
            <a:ext cx="91440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zh-CN" sz="8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0.018</a:t>
            </a:r>
          </a:p>
        </p:txBody>
      </p:sp>
      <p:sp>
        <p:nvSpPr>
          <p:cNvPr id="180" name="td 4-0"/>
          <p:cNvSpPr/>
          <p:nvPr/>
        </p:nvSpPr>
        <p:spPr>
          <a:xfrm>
            <a:off x="594360" y="2642616"/>
            <a:ext cx="2011680" cy="32918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</p:sp>
      <p:sp>
        <p:nvSpPr>
          <p:cNvPr id="380" name="td text 4-0"/>
          <p:cNvSpPr txBox="1"/>
          <p:nvPr/>
        </p:nvSpPr>
        <p:spPr>
          <a:xfrm>
            <a:off x="594360" y="2670048"/>
            <a:ext cx="201168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zh-CN" sz="8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shiny
blender
synthetic</a:t>
            </a:r>
          </a:p>
        </p:txBody>
      </p:sp>
      <p:sp>
        <p:nvSpPr>
          <p:cNvPr id="181" name="td 4-1"/>
          <p:cNvSpPr/>
          <p:nvPr/>
        </p:nvSpPr>
        <p:spPr>
          <a:xfrm>
            <a:off x="2606040" y="2642616"/>
            <a:ext cx="822960" cy="32918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</p:sp>
      <p:sp>
        <p:nvSpPr>
          <p:cNvPr id="381" name="td text 4-1"/>
          <p:cNvSpPr txBox="1"/>
          <p:nvPr/>
        </p:nvSpPr>
        <p:spPr>
          <a:xfrm>
            <a:off x="2606040" y="2670048"/>
            <a:ext cx="82296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zh-CN" sz="8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test</a:t>
            </a:r>
          </a:p>
        </p:txBody>
      </p:sp>
      <p:sp>
        <p:nvSpPr>
          <p:cNvPr id="182" name="td 4-2"/>
          <p:cNvSpPr/>
          <p:nvPr/>
        </p:nvSpPr>
        <p:spPr>
          <a:xfrm>
            <a:off x="3429000" y="2642616"/>
            <a:ext cx="914400" cy="32918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</p:sp>
      <p:sp>
        <p:nvSpPr>
          <p:cNvPr id="382" name="td text 4-2"/>
          <p:cNvSpPr txBox="1"/>
          <p:nvPr/>
        </p:nvSpPr>
        <p:spPr>
          <a:xfrm>
            <a:off x="3429000" y="2670048"/>
            <a:ext cx="91440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zh-CN" sz="8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0.0781</a:t>
            </a:r>
          </a:p>
        </p:txBody>
      </p:sp>
      <p:sp>
        <p:nvSpPr>
          <p:cNvPr id="183" name="td 4-3"/>
          <p:cNvSpPr/>
          <p:nvPr/>
        </p:nvSpPr>
        <p:spPr>
          <a:xfrm>
            <a:off x="4343400" y="2642616"/>
            <a:ext cx="914400" cy="32918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</p:sp>
      <p:sp>
        <p:nvSpPr>
          <p:cNvPr id="383" name="td text 4-3"/>
          <p:cNvSpPr txBox="1"/>
          <p:nvPr/>
        </p:nvSpPr>
        <p:spPr>
          <a:xfrm>
            <a:off x="4343400" y="2670048"/>
            <a:ext cx="91440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zh-CN" sz="800" b="1">
                <a:solidFill>
                  <a:srgbClr val="059669"/>
                </a:solidFill>
                <a:latin typeface="Aptos"/>
                <a:ea typeface="Microsoft YaHei"/>
                <a:cs typeface="Microsoft YaHei"/>
              </a:rPr>
              <a:t>0.0336</a:t>
            </a:r>
          </a:p>
        </p:txBody>
      </p:sp>
      <p:sp>
        <p:nvSpPr>
          <p:cNvPr id="184" name="td 4-4"/>
          <p:cNvSpPr/>
          <p:nvPr/>
        </p:nvSpPr>
        <p:spPr>
          <a:xfrm>
            <a:off x="5257800" y="2642616"/>
            <a:ext cx="914400" cy="32918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</p:sp>
      <p:sp>
        <p:nvSpPr>
          <p:cNvPr id="384" name="td text 4-4"/>
          <p:cNvSpPr txBox="1"/>
          <p:nvPr/>
        </p:nvSpPr>
        <p:spPr>
          <a:xfrm>
            <a:off x="5257800" y="2670048"/>
            <a:ext cx="91440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zh-CN" sz="8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35.66</a:t>
            </a:r>
          </a:p>
        </p:txBody>
      </p:sp>
      <p:sp>
        <p:nvSpPr>
          <p:cNvPr id="185" name="td 4-5"/>
          <p:cNvSpPr/>
          <p:nvPr/>
        </p:nvSpPr>
        <p:spPr>
          <a:xfrm>
            <a:off x="6172200" y="2642616"/>
            <a:ext cx="914400" cy="32918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</p:sp>
      <p:sp>
        <p:nvSpPr>
          <p:cNvPr id="385" name="td text 4-5"/>
          <p:cNvSpPr txBox="1"/>
          <p:nvPr/>
        </p:nvSpPr>
        <p:spPr>
          <a:xfrm>
            <a:off x="6172200" y="2670048"/>
            <a:ext cx="91440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zh-CN" sz="800" b="1">
                <a:solidFill>
                  <a:srgbClr val="059669"/>
                </a:solidFill>
                <a:latin typeface="Aptos"/>
                <a:ea typeface="Microsoft YaHei"/>
                <a:cs typeface="Microsoft YaHei"/>
              </a:rPr>
              <a:t>35.73</a:t>
            </a:r>
          </a:p>
        </p:txBody>
      </p:sp>
      <p:sp>
        <p:nvSpPr>
          <p:cNvPr id="186" name="td 4-6"/>
          <p:cNvSpPr/>
          <p:nvPr/>
        </p:nvSpPr>
        <p:spPr>
          <a:xfrm>
            <a:off x="7086600" y="2642616"/>
            <a:ext cx="914400" cy="32918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</p:sp>
      <p:sp>
        <p:nvSpPr>
          <p:cNvPr id="386" name="td text 4-6"/>
          <p:cNvSpPr txBox="1"/>
          <p:nvPr/>
        </p:nvSpPr>
        <p:spPr>
          <a:xfrm>
            <a:off x="7086600" y="2670048"/>
            <a:ext cx="91440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zh-CN" sz="8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0.977</a:t>
            </a:r>
          </a:p>
        </p:txBody>
      </p:sp>
      <p:sp>
        <p:nvSpPr>
          <p:cNvPr id="187" name="td 4-7"/>
          <p:cNvSpPr/>
          <p:nvPr/>
        </p:nvSpPr>
        <p:spPr>
          <a:xfrm>
            <a:off x="8001000" y="2642616"/>
            <a:ext cx="914400" cy="32918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</p:sp>
      <p:sp>
        <p:nvSpPr>
          <p:cNvPr id="387" name="td text 4-7"/>
          <p:cNvSpPr txBox="1"/>
          <p:nvPr/>
        </p:nvSpPr>
        <p:spPr>
          <a:xfrm>
            <a:off x="8001000" y="2670048"/>
            <a:ext cx="91440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zh-CN" sz="800" b="1">
                <a:solidFill>
                  <a:srgbClr val="059669"/>
                </a:solidFill>
                <a:latin typeface="Aptos"/>
                <a:ea typeface="Microsoft YaHei"/>
                <a:cs typeface="Microsoft YaHei"/>
              </a:rPr>
              <a:t>0.977</a:t>
            </a:r>
          </a:p>
        </p:txBody>
      </p:sp>
      <p:sp>
        <p:nvSpPr>
          <p:cNvPr id="188" name="td 4-8"/>
          <p:cNvSpPr/>
          <p:nvPr/>
        </p:nvSpPr>
        <p:spPr>
          <a:xfrm>
            <a:off x="8915400" y="2642616"/>
            <a:ext cx="914400" cy="32918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</p:sp>
      <p:sp>
        <p:nvSpPr>
          <p:cNvPr id="388" name="td text 4-8"/>
          <p:cNvSpPr txBox="1"/>
          <p:nvPr/>
        </p:nvSpPr>
        <p:spPr>
          <a:xfrm>
            <a:off x="8915400" y="2670048"/>
            <a:ext cx="91440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zh-CN" sz="800" b="1">
                <a:solidFill>
                  <a:srgbClr val="D97706"/>
                </a:solidFill>
                <a:latin typeface="Aptos"/>
                <a:ea typeface="Microsoft YaHei"/>
                <a:cs typeface="Microsoft YaHei"/>
              </a:rPr>
              <a:t>0.029</a:t>
            </a:r>
          </a:p>
        </p:txBody>
      </p:sp>
      <p:sp>
        <p:nvSpPr>
          <p:cNvPr id="189" name="td 4-9"/>
          <p:cNvSpPr/>
          <p:nvPr/>
        </p:nvSpPr>
        <p:spPr>
          <a:xfrm>
            <a:off x="9829800" y="2642616"/>
            <a:ext cx="914400" cy="32918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</p:sp>
      <p:sp>
        <p:nvSpPr>
          <p:cNvPr id="389" name="td text 4-9"/>
          <p:cNvSpPr txBox="1"/>
          <p:nvPr/>
        </p:nvSpPr>
        <p:spPr>
          <a:xfrm>
            <a:off x="9829800" y="2670048"/>
            <a:ext cx="91440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zh-CN" sz="8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0.030</a:t>
            </a:r>
          </a:p>
        </p:txBody>
      </p:sp>
      <p:sp>
        <p:nvSpPr>
          <p:cNvPr id="850" name="table note"/>
          <p:cNvSpPr txBox="1"/>
          <p:nvPr/>
        </p:nvSpPr>
        <p:spPr>
          <a:xfrm>
            <a:off x="685800" y="3456432"/>
            <a:ext cx="1060704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900" b="0">
                <a:solidFill>
                  <a:srgbClr val="64748B"/>
                </a:solidFill>
                <a:latin typeface="Aptos"/>
                <a:ea typeface="Microsoft YaHei"/>
                <a:cs typeface="Microsoft YaHei"/>
              </a:rPr>
              <a:t>Avg. 在同一 dataset + split 内计算；缺失值不参与平均。绿色仅标记该行方向下更优。</a:t>
            </a:r>
          </a:p>
        </p:txBody>
      </p:sp>
      <p:sp>
        <p:nvSpPr>
          <p:cNvPr id="875" name="interpretation"/>
          <p:cNvSpPr txBox="1"/>
          <p:nvPr/>
        </p:nvSpPr>
        <p:spPr>
          <a:xfrm>
            <a:off x="777240" y="4160520"/>
            <a:ext cx="10424160" cy="77724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91440" tIns="45720" rIns="91440" bIns="45720"/>
          <a:lstStyle/>
          <a:p>
            <a:pPr algn="c"/>
            <a:r>
              <a:rPr lang="zh-CN" sz="13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观察：RC↓ 在两个 dataset 的 train/test Avg. 均下降；PSNR/SSIM/LPIPS 的变化幅度和方向更依赖数据集与 split。</a:t>
            </a:r>
          </a:p>
          <a:p>
            <a:pPr algn="c"/>
            <a:r>
              <a:rPr lang="zh-CN" sz="13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因此主表应作为 per-dataset / per-scene 数值对照，而不是“全面优于 baseline”的证据。</a:t>
            </a:r>
          </a:p>
        </p:txBody>
      </p:sp>
      <p:sp>
        <p:nvSpPr>
          <p:cNvPr id="907" name="scope"/>
          <p:cNvSpPr txBox="1"/>
          <p:nvPr/>
        </p:nvSpPr>
        <p:spPr>
          <a:xfrm>
            <a:off x="502920" y="6419088"/>
            <a:ext cx="877824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800" b="0">
                <a:solidFill>
                  <a:srgbClr val="64748B"/>
                </a:solidFill>
                <a:latin typeface="Aptos"/>
                <a:ea typeface="Microsoft YaHei"/>
                <a:cs typeface="Microsoft YaHei"/>
              </a:rPr>
              <a:t>Scope: FD-P2-lite / non-Shiny-Real / completed runs</a:t>
            </a:r>
          </a:p>
        </p:txBody>
      </p:sp>
      <p:sp>
        <p:nvSpPr>
          <p:cNvPr id="957" name="page"/>
          <p:cNvSpPr txBox="1"/>
          <p:nvPr/>
        </p:nvSpPr>
        <p:spPr>
          <a:xfrm>
            <a:off x="11109960" y="6419088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zh-CN" sz="800" b="0">
                <a:solidFill>
                  <a:srgbClr val="64748B"/>
                </a:solidFill>
                <a:latin typeface="Aptos"/>
                <a:ea typeface="Microsoft YaHei"/>
                <a:cs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9998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2500" b="1">
                <a:solidFill>
                  <a:srgbClr val="1E3A8A"/>
                </a:solidFill>
                <a:latin typeface="Aptos"/>
                <a:ea typeface="Microsoft YaHei"/>
                <a:cs typeface="Microsoft YaHei"/>
              </a:rPr>
              <a:t>Reflective-region quality problem：Refl. metrics 有正有负</a:t>
            </a:r>
          </a:p>
        </p:txBody>
      </p:sp>
      <p:sp>
        <p:nvSpPr>
          <p:cNvPr id="4" name="rule"/>
          <p:cNvSpPr/>
          <p:nvPr/>
        </p:nvSpPr>
        <p:spPr>
          <a:xfrm>
            <a:off x="502920" y="1024128"/>
            <a:ext cx="11201400" cy="13716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</p:sp>
      <p:sp>
        <p:nvSpPr>
          <p:cNvPr id="20" name="stats"/>
          <p:cNvSpPr txBox="1"/>
          <p:nvPr/>
        </p:nvSpPr>
        <p:spPr>
          <a:xfrm>
            <a:off x="8869680" y="1325880"/>
            <a:ext cx="2743200" cy="1965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zh-CN" sz="14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Refl. PSNR：16 win / 12 loss</a:t>
            </a:r>
          </a:p>
          <a:p>
            <a:pPr algn="l"/>
            <a:r>
              <a:rPr lang="zh-CN" sz="14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Refl. SSIM：14 win / 14 loss</a:t>
            </a:r>
          </a:p>
          <a:p>
            <a:pPr algn="l"/>
            <a:r>
              <a:rPr lang="zh-CN" sz="14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Refl. LPIPS：10 win / 18 loss</a:t>
            </a:r>
          </a:p>
          <a:p>
            <a:pPr algn="l"/>
            <a:r>
              <a:rPr lang="zh-CN" sz="14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正值表示 RC 更好</a:t>
            </a:r>
          </a:p>
        </p:txBody>
      </p:sp>
      <p:sp>
        <p:nvSpPr>
          <p:cNvPr id="21" name="take"/>
          <p:cNvSpPr txBox="1"/>
          <p:nvPr/>
        </p:nvSpPr>
        <p:spPr>
          <a:xfrm>
            <a:off x="8869680" y="3703320"/>
            <a:ext cx="2743200" cy="1051560"/>
          </a:xfrm>
          <a:prstGeom prst="roundRect">
            <a:avLst/>
          </a:prstGeom>
          <a:solidFill>
            <a:srgbClr val="FFF7ED"/>
          </a:solidFill>
          <a:ln w="9525">
            <a:solidFill>
              <a:srgbClr val="FED7AA"/>
            </a:solidFill>
          </a:ln>
        </p:spPr>
        <p:txBody>
          <a:bodyPr wrap="square" lIns="91440" tIns="45720" rIns="91440" bIns="45720"/>
          <a:lstStyle/>
          <a:p>
            <a:pPr algn="c"/>
            <a:r>
              <a:rPr lang="zh-CN" sz="1500" b="1">
                <a:solidFill>
                  <a:srgbClr val="D97706"/>
                </a:solidFill>
                <a:latin typeface="Aptos"/>
                <a:ea typeface="Microsoft YaHei"/>
                <a:cs typeface="Microsoft YaHei"/>
              </a:rPr>
              <a:t>结论：反射区域 RGB 指标并未随 consistency 稳定提升。</a:t>
            </a:r>
          </a:p>
        </p:txBody>
      </p:sp>
      <p:sp>
        <p:nvSpPr>
          <p:cNvPr id="908" name="scope"/>
          <p:cNvSpPr txBox="1"/>
          <p:nvPr/>
        </p:nvSpPr>
        <p:spPr>
          <a:xfrm>
            <a:off x="502920" y="6419088"/>
            <a:ext cx="877824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800" b="0">
                <a:solidFill>
                  <a:srgbClr val="64748B"/>
                </a:solidFill>
                <a:latin typeface="Aptos"/>
                <a:ea typeface="Microsoft YaHei"/>
                <a:cs typeface="Microsoft YaHei"/>
              </a:rPr>
              <a:t>Scope: FD-P2-lite / non-Shiny-Real / completed runs</a:t>
            </a:r>
          </a:p>
        </p:txBody>
      </p:sp>
      <p:sp>
        <p:nvSpPr>
          <p:cNvPr id="958" name="page"/>
          <p:cNvSpPr txBox="1"/>
          <p:nvPr/>
        </p:nvSpPr>
        <p:spPr>
          <a:xfrm>
            <a:off x="11109960" y="6419088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zh-CN" sz="800" b="0">
                <a:solidFill>
                  <a:srgbClr val="64748B"/>
                </a:solidFill>
                <a:latin typeface="Aptos"/>
                <a:ea typeface="Microsoft YaHei"/>
                <a:cs typeface="Microsoft YaHei"/>
              </a:rPr>
              <a:t>08</a:t>
            </a:r>
          </a:p>
        </p:txBody>
      </p:sp>
      <p:pic>
        <p:nvPicPr>
          <p:cNvPr id="1001" name="figD1_refl_metric_improvements_by_sce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713" y="1097280"/>
            <a:ext cx="669513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9998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2500" b="1">
                <a:solidFill>
                  <a:srgbClr val="1E3A8A"/>
                </a:solidFill>
                <a:latin typeface="Aptos"/>
                <a:ea typeface="Microsoft YaHei"/>
                <a:cs typeface="Microsoft YaHei"/>
              </a:rPr>
              <a:t>Trade-off：consistency improvement 与 Refl. quality 基本解耦</a:t>
            </a:r>
          </a:p>
        </p:txBody>
      </p:sp>
      <p:sp>
        <p:nvSpPr>
          <p:cNvPr id="4" name="rule"/>
          <p:cNvSpPr/>
          <p:nvPr/>
        </p:nvSpPr>
        <p:spPr>
          <a:xfrm>
            <a:off x="502920" y="1024128"/>
            <a:ext cx="11201400" cy="13716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</p:sp>
      <p:sp>
        <p:nvSpPr>
          <p:cNvPr id="20" name="corr"/>
          <p:cNvSpPr txBox="1"/>
          <p:nvPr/>
        </p:nvSpPr>
        <p:spPr>
          <a:xfrm>
            <a:off x="731520" y="4983480"/>
            <a:ext cx="10607040" cy="658368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91440" tIns="45720" rIns="91440" bIns="45720"/>
          <a:lstStyle/>
          <a:p>
            <a:pPr algn="c"/>
            <a:r>
              <a:rPr lang="zh-CN" sz="13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Pearson r：Refl. PSNR 0.01，Refl. SSIM 0.04，Refl. LPIPS 0.10；Spearman 同样接近 0。</a:t>
            </a:r>
          </a:p>
          <a:p>
            <a:pPr algn="c"/>
            <a:r>
              <a:rPr lang="zh-CN" sz="13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存在多行 “consistency 改善，但 reflective image quality 下降” 的 trade-off。</a:t>
            </a:r>
          </a:p>
        </p:txBody>
      </p:sp>
      <p:sp>
        <p:nvSpPr>
          <p:cNvPr id="909" name="scope"/>
          <p:cNvSpPr txBox="1"/>
          <p:nvPr/>
        </p:nvSpPr>
        <p:spPr>
          <a:xfrm>
            <a:off x="502920" y="6419088"/>
            <a:ext cx="877824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800" b="0">
                <a:solidFill>
                  <a:srgbClr val="64748B"/>
                </a:solidFill>
                <a:latin typeface="Aptos"/>
                <a:ea typeface="Microsoft YaHei"/>
                <a:cs typeface="Microsoft YaHei"/>
              </a:rPr>
              <a:t>Scope: FD-P2-lite / non-Shiny-Real / completed runs</a:t>
            </a:r>
          </a:p>
        </p:txBody>
      </p:sp>
      <p:sp>
        <p:nvSpPr>
          <p:cNvPr id="959" name="page"/>
          <p:cNvSpPr txBox="1"/>
          <p:nvPr/>
        </p:nvSpPr>
        <p:spPr>
          <a:xfrm>
            <a:off x="11109960" y="6419088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zh-CN" sz="800" b="0">
                <a:solidFill>
                  <a:srgbClr val="64748B"/>
                </a:solidFill>
                <a:latin typeface="Aptos"/>
                <a:ea typeface="Microsoft YaHei"/>
                <a:cs typeface="Microsoft YaHei"/>
              </a:rPr>
              <a:t>09</a:t>
            </a:r>
          </a:p>
        </p:txBody>
      </p:sp>
      <p:pic>
        <p:nvPicPr>
          <p:cNvPr id="1001" name="figD2_consistency_vs_refl_quality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19491"/>
            <a:ext cx="11155680" cy="357660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9998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2500" b="1">
                <a:solidFill>
                  <a:srgbClr val="1E3A8A"/>
                </a:solidFill>
                <a:latin typeface="Aptos"/>
                <a:ea typeface="Microsoft YaHei"/>
                <a:cs typeface="Microsoft YaHei"/>
              </a:rPr>
              <a:t>消融诊断：RC consistency 最强，但 Refl. metrics 不是最优</a:t>
            </a:r>
          </a:p>
        </p:txBody>
      </p:sp>
      <p:sp>
        <p:nvSpPr>
          <p:cNvPr id="4" name="rule"/>
          <p:cNvSpPr/>
          <p:nvPr/>
        </p:nvSpPr>
        <p:spPr>
          <a:xfrm>
            <a:off x="502920" y="1024128"/>
            <a:ext cx="11201400" cy="13716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</p:sp>
      <p:sp>
        <p:nvSpPr>
          <p:cNvPr id="30" name="abl bullets"/>
          <p:cNvSpPr txBox="1"/>
          <p:nvPr/>
        </p:nvSpPr>
        <p:spPr>
          <a:xfrm>
            <a:off x="8823960" y="1234440"/>
            <a:ext cx="2651760" cy="2834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zh-CN" sz="11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• wo_ref 牺牲 consistency，但若干 Refl. metrics 可持平或更好</a:t>
            </a:r>
          </a:p>
          <a:p>
            <a:pPr algn="l"/>
            <a:r>
              <a:rPr lang="zh-CN" sz="11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• wo_conf 削弱 consistency，说明 confidence 有贡献但非充分条件</a:t>
            </a:r>
          </a:p>
          <a:p>
            <a:pPr algn="l"/>
            <a:r>
              <a:rPr lang="zh-CN" sz="11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• rough_only 不能复现 RC 的 reflection consistency 行为</a:t>
            </a:r>
          </a:p>
          <a:p>
            <a:pPr algn="l"/>
            <a:r>
              <a:rPr lang="zh-CN" sz="11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• 消融支持模块边界，不支持“所有指标全面提升”</a:t>
            </a:r>
          </a:p>
        </p:txBody>
      </p:sp>
      <p:sp>
        <p:nvSpPr>
          <p:cNvPr id="910" name="scope"/>
          <p:cNvSpPr txBox="1"/>
          <p:nvPr/>
        </p:nvSpPr>
        <p:spPr>
          <a:xfrm>
            <a:off x="502920" y="6419088"/>
            <a:ext cx="877824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800" b="0">
                <a:solidFill>
                  <a:srgbClr val="64748B"/>
                </a:solidFill>
                <a:latin typeface="Aptos"/>
                <a:ea typeface="Microsoft YaHei"/>
                <a:cs typeface="Microsoft YaHei"/>
              </a:rPr>
              <a:t>Scope: FD-P2-lite / non-Shiny-Real / completed runs</a:t>
            </a:r>
          </a:p>
        </p:txBody>
      </p:sp>
      <p:sp>
        <p:nvSpPr>
          <p:cNvPr id="960" name="page"/>
          <p:cNvSpPr txBox="1"/>
          <p:nvPr/>
        </p:nvSpPr>
        <p:spPr>
          <a:xfrm>
            <a:off x="11109960" y="6419088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zh-CN" sz="800" b="0">
                <a:solidFill>
                  <a:srgbClr val="64748B"/>
                </a:solidFill>
                <a:latin typeface="Aptos"/>
                <a:ea typeface="Microsoft YaHei"/>
                <a:cs typeface="Microsoft YaHei"/>
              </a:rPr>
              <a:t>10</a:t>
            </a:r>
          </a:p>
        </p:txBody>
      </p:sp>
      <p:pic>
        <p:nvPicPr>
          <p:cNvPr id="1001" name="figD3_ablation_refl_metrics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7272"/>
            <a:ext cx="8046720" cy="350909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9998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2500" b="1">
                <a:solidFill>
                  <a:srgbClr val="1E3A8A"/>
                </a:solidFill>
                <a:latin typeface="Aptos"/>
                <a:ea typeface="Microsoft YaHei"/>
                <a:cs typeface="Microsoft YaHei"/>
              </a:rPr>
              <a:t>为什么 Refl. PSNR/SSIM/LPIPS 反而更差？</a:t>
            </a:r>
          </a:p>
        </p:txBody>
      </p:sp>
      <p:sp>
        <p:nvSpPr>
          <p:cNvPr id="4" name="rule"/>
          <p:cNvSpPr/>
          <p:nvPr/>
        </p:nvSpPr>
        <p:spPr>
          <a:xfrm>
            <a:off x="502920" y="1024128"/>
            <a:ext cx="11201400" cy="13716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</p:sp>
      <p:sp>
        <p:nvSpPr>
          <p:cNvPr id="20" name="有代码与指标共同支持"/>
          <p:cNvSpPr/>
          <p:nvPr/>
        </p:nvSpPr>
        <p:spPr>
          <a:xfrm>
            <a:off x="685800" y="1234440"/>
            <a:ext cx="347472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20" name="有代码与指标共同支持 head"/>
          <p:cNvSpPr txBox="1"/>
          <p:nvPr/>
        </p:nvSpPr>
        <p:spPr>
          <a:xfrm>
            <a:off x="758952" y="1289304"/>
            <a:ext cx="332841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200" b="1">
                <a:solidFill>
                  <a:srgbClr val="059669"/>
                </a:solidFill>
                <a:latin typeface="Aptos"/>
                <a:ea typeface="Microsoft YaHei"/>
                <a:cs typeface="Microsoft YaHei"/>
              </a:rPr>
              <a:t>有代码与指标共同支持</a:t>
            </a:r>
          </a:p>
        </p:txBody>
      </p:sp>
      <p:sp>
        <p:nvSpPr>
          <p:cNvPr id="220" name="有代码与指标共同支持 body"/>
          <p:cNvSpPr txBox="1"/>
          <p:nvPr/>
        </p:nvSpPr>
        <p:spPr>
          <a:xfrm>
            <a:off x="758952" y="1581912"/>
            <a:ext cx="3328416" cy="75895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0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objective</a:t>
            </a:r>
          </a:p>
          <a:p>
            <a:pPr algn="l"/>
            <a:r>
              <a:rPr lang="zh-CN" sz="10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mismatch：specular</a:t>
            </a:r>
          </a:p>
          <a:p>
            <a:pPr algn="l"/>
            <a:r>
              <a:rPr lang="zh-CN" sz="10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stability 正则 vs masked</a:t>
            </a:r>
          </a:p>
          <a:p>
            <a:pPr algn="l"/>
            <a:r>
              <a:rPr lang="zh-CN" sz="10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final-RGB 指标</a:t>
            </a:r>
          </a:p>
        </p:txBody>
      </p:sp>
      <p:sp>
        <p:nvSpPr>
          <p:cNvPr id="30" name="部分支持"/>
          <p:cNvSpPr/>
          <p:nvPr/>
        </p:nvSpPr>
        <p:spPr>
          <a:xfrm>
            <a:off x="4389120" y="1234440"/>
            <a:ext cx="347472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30" name="部分支持 head"/>
          <p:cNvSpPr txBox="1"/>
          <p:nvPr/>
        </p:nvSpPr>
        <p:spPr>
          <a:xfrm>
            <a:off x="4462272" y="1289304"/>
            <a:ext cx="332841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200" b="1">
                <a:solidFill>
                  <a:srgbClr val="D97706"/>
                </a:solidFill>
                <a:latin typeface="Aptos"/>
                <a:ea typeface="Microsoft YaHei"/>
                <a:cs typeface="Microsoft YaHei"/>
              </a:rPr>
              <a:t>部分支持</a:t>
            </a:r>
          </a:p>
        </p:txBody>
      </p:sp>
      <p:sp>
        <p:nvSpPr>
          <p:cNvPr id="230" name="部分支持 body"/>
          <p:cNvSpPr txBox="1"/>
          <p:nvPr/>
        </p:nvSpPr>
        <p:spPr>
          <a:xfrm>
            <a:off x="4462272" y="1581912"/>
            <a:ext cx="3328416" cy="75895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0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L1 specular consistency</a:t>
            </a:r>
          </a:p>
          <a:p>
            <a:pPr algn="l"/>
            <a:r>
              <a:rPr lang="zh-CN" sz="10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可能抑制 view-specific 高频高光</a:t>
            </a:r>
          </a:p>
        </p:txBody>
      </p:sp>
      <p:sp>
        <p:nvSpPr>
          <p:cNvPr id="40" name="机制支持但未量化"/>
          <p:cNvSpPr/>
          <p:nvPr/>
        </p:nvSpPr>
        <p:spPr>
          <a:xfrm>
            <a:off x="8092440" y="1234440"/>
            <a:ext cx="324612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40" name="机制支持但未量化 head"/>
          <p:cNvSpPr txBox="1"/>
          <p:nvPr/>
        </p:nvSpPr>
        <p:spPr>
          <a:xfrm>
            <a:off x="8165592" y="1289304"/>
            <a:ext cx="309981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200" b="1">
                <a:solidFill>
                  <a:srgbClr val="7C3AED"/>
                </a:solidFill>
                <a:latin typeface="Aptos"/>
                <a:ea typeface="Microsoft YaHei"/>
                <a:cs typeface="Microsoft YaHei"/>
              </a:rPr>
              <a:t>机制支持但未量化</a:t>
            </a:r>
          </a:p>
        </p:txBody>
      </p:sp>
      <p:sp>
        <p:nvSpPr>
          <p:cNvPr id="240" name="机制支持但未量化 body"/>
          <p:cNvSpPr txBox="1"/>
          <p:nvPr/>
        </p:nvSpPr>
        <p:spPr>
          <a:xfrm>
            <a:off x="8165592" y="1581912"/>
            <a:ext cx="3099816" cy="75895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0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RC mask 与 Refl. metric</a:t>
            </a:r>
          </a:p>
          <a:p>
            <a:pPr algn="l"/>
            <a:r>
              <a:rPr lang="zh-CN" sz="10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mask 不完全一致</a:t>
            </a:r>
          </a:p>
        </p:txBody>
      </p:sp>
      <p:sp>
        <p:nvSpPr>
          <p:cNvPr id="50" name="仍待验证"/>
          <p:cNvSpPr/>
          <p:nvPr/>
        </p:nvSpPr>
        <p:spPr>
          <a:xfrm>
            <a:off x="685800" y="2971800"/>
            <a:ext cx="347472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50" name="仍待验证 head"/>
          <p:cNvSpPr txBox="1"/>
          <p:nvPr/>
        </p:nvSpPr>
        <p:spPr>
          <a:xfrm>
            <a:off x="758952" y="3026664"/>
            <a:ext cx="332841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200" b="1">
                <a:solidFill>
                  <a:srgbClr val="64748B"/>
                </a:solidFill>
                <a:latin typeface="Aptos"/>
                <a:ea typeface="Microsoft YaHei"/>
                <a:cs typeface="Microsoft YaHei"/>
              </a:rPr>
              <a:t>仍待验证</a:t>
            </a:r>
          </a:p>
        </p:txBody>
      </p:sp>
      <p:sp>
        <p:nvSpPr>
          <p:cNvPr id="250" name="仍待验证 body"/>
          <p:cNvSpPr txBox="1"/>
          <p:nvPr/>
        </p:nvSpPr>
        <p:spPr>
          <a:xfrm>
            <a:off x="758952" y="3319272"/>
            <a:ext cx="3328416" cy="75895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0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错误 correspondence：depth /</a:t>
            </a:r>
          </a:p>
          <a:p>
            <a:pPr algn="l"/>
            <a:r>
              <a:rPr lang="zh-CN" sz="10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normal / alpha 不稳定</a:t>
            </a:r>
          </a:p>
        </p:txBody>
      </p:sp>
      <p:sp>
        <p:nvSpPr>
          <p:cNvPr id="60" name="仍待验证"/>
          <p:cNvSpPr/>
          <p:nvPr/>
        </p:nvSpPr>
        <p:spPr>
          <a:xfrm>
            <a:off x="4389120" y="2971800"/>
            <a:ext cx="347472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60" name="仍待验证 head"/>
          <p:cNvSpPr txBox="1"/>
          <p:nvPr/>
        </p:nvSpPr>
        <p:spPr>
          <a:xfrm>
            <a:off x="4462272" y="3026664"/>
            <a:ext cx="332841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200" b="1">
                <a:solidFill>
                  <a:srgbClr val="64748B"/>
                </a:solidFill>
                <a:latin typeface="Aptos"/>
                <a:ea typeface="Microsoft YaHei"/>
                <a:cs typeface="Microsoft YaHei"/>
              </a:rPr>
              <a:t>仍待验证</a:t>
            </a:r>
          </a:p>
        </p:txBody>
      </p:sp>
      <p:sp>
        <p:nvSpPr>
          <p:cNvPr id="260" name="仍待验证 body"/>
          <p:cNvSpPr txBox="1"/>
          <p:nvPr/>
        </p:nvSpPr>
        <p:spPr>
          <a:xfrm>
            <a:off x="4462272" y="3319272"/>
            <a:ext cx="3328416" cy="75895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0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小反射 mask 导致</a:t>
            </a:r>
          </a:p>
          <a:p>
            <a:pPr algn="l"/>
            <a:r>
              <a:rPr lang="zh-CN" sz="10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PSNR/SSIM/LPIPS 高方差</a:t>
            </a:r>
          </a:p>
        </p:txBody>
      </p:sp>
      <p:sp>
        <p:nvSpPr>
          <p:cNvPr id="70" name="结论边界"/>
          <p:cNvSpPr/>
          <p:nvPr/>
        </p:nvSpPr>
        <p:spPr>
          <a:xfrm>
            <a:off x="8092440" y="2971800"/>
            <a:ext cx="324612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70" name="结论边界 head"/>
          <p:cNvSpPr txBox="1"/>
          <p:nvPr/>
        </p:nvSpPr>
        <p:spPr>
          <a:xfrm>
            <a:off x="8165592" y="3026664"/>
            <a:ext cx="309981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200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结论边界</a:t>
            </a:r>
          </a:p>
        </p:txBody>
      </p:sp>
      <p:sp>
        <p:nvSpPr>
          <p:cNvPr id="270" name="结论边界 body"/>
          <p:cNvSpPr txBox="1"/>
          <p:nvPr/>
        </p:nvSpPr>
        <p:spPr>
          <a:xfrm>
            <a:off x="8165592" y="3319272"/>
            <a:ext cx="3099816" cy="75895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0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这是 trade-off 信号，不是 RC</a:t>
            </a:r>
          </a:p>
          <a:p>
            <a:pPr algn="l"/>
            <a:r>
              <a:rPr lang="zh-CN" sz="10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一定失败或实现一定有 bug</a:t>
            </a:r>
          </a:p>
        </p:txBody>
      </p:sp>
      <p:sp>
        <p:nvSpPr>
          <p:cNvPr id="90" name="safe wording"/>
          <p:cNvSpPr txBox="1"/>
          <p:nvPr/>
        </p:nvSpPr>
        <p:spPr>
          <a:xfrm>
            <a:off x="822960" y="5074920"/>
            <a:ext cx="1024128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zh-CN" sz="1400" b="1">
                <a:solidFill>
                  <a:srgbClr val="1E3A8A"/>
                </a:solidFill>
                <a:latin typeface="Aptos"/>
                <a:ea typeface="Microsoft YaHei"/>
                <a:cs typeface="Microsoft YaHei"/>
              </a:rPr>
              <a:t>论文讨论应写：RC 更适合作为 reflection consistency regularizer，而非保证 reflective RGB 全面提升的插件。</a:t>
            </a:r>
          </a:p>
        </p:txBody>
      </p:sp>
      <p:sp>
        <p:nvSpPr>
          <p:cNvPr id="911" name="scope"/>
          <p:cNvSpPr txBox="1"/>
          <p:nvPr/>
        </p:nvSpPr>
        <p:spPr>
          <a:xfrm>
            <a:off x="502920" y="6419088"/>
            <a:ext cx="877824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800" b="0">
                <a:solidFill>
                  <a:srgbClr val="64748B"/>
                </a:solidFill>
                <a:latin typeface="Aptos"/>
                <a:ea typeface="Microsoft YaHei"/>
                <a:cs typeface="Microsoft YaHei"/>
              </a:rPr>
              <a:t>Scope: FD-P2-lite / non-Shiny-Real / completed runs</a:t>
            </a:r>
          </a:p>
        </p:txBody>
      </p:sp>
      <p:sp>
        <p:nvSpPr>
          <p:cNvPr id="961" name="page"/>
          <p:cNvSpPr txBox="1"/>
          <p:nvPr/>
        </p:nvSpPr>
        <p:spPr>
          <a:xfrm>
            <a:off x="11109960" y="6419088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zh-CN" sz="800" b="0">
                <a:solidFill>
                  <a:srgbClr val="64748B"/>
                </a:solidFill>
                <a:latin typeface="Aptos"/>
                <a:ea typeface="Microsoft YaHei"/>
                <a:cs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9998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2500" b="1">
                <a:solidFill>
                  <a:srgbClr val="1E3A8A"/>
                </a:solidFill>
                <a:latin typeface="Aptos"/>
                <a:ea typeface="Microsoft YaHei"/>
                <a:cs typeface="Microsoft YaHei"/>
              </a:rPr>
              <a:t>Hard limitation：reflection consistency 不是 mesh quality 证据</a:t>
            </a:r>
          </a:p>
        </p:txBody>
      </p:sp>
      <p:sp>
        <p:nvSpPr>
          <p:cNvPr id="4" name="rule"/>
          <p:cNvSpPr/>
          <p:nvPr/>
        </p:nvSpPr>
        <p:spPr>
          <a:xfrm>
            <a:off x="502920" y="1024128"/>
            <a:ext cx="11201400" cy="13716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</p:sp>
      <p:sp>
        <p:nvSpPr>
          <p:cNvPr id="20" name="big"/>
          <p:cNvSpPr txBox="1"/>
          <p:nvPr/>
        </p:nvSpPr>
        <p:spPr>
          <a:xfrm>
            <a:off x="822960" y="1417320"/>
            <a:ext cx="10424160" cy="10058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zh-CN" sz="2700" b="1">
                <a:solidFill>
                  <a:srgbClr val="1E3A8A"/>
                </a:solidFill>
                <a:latin typeface="Aptos"/>
                <a:ea typeface="Microsoft YaHei"/>
                <a:cs typeface="Microsoft YaHei"/>
              </a:rPr>
              <a:t>如果最终目标是 mesh / surface quality，</a:t>
            </a:r>
          </a:p>
          <a:p>
            <a:pPr algn="c"/>
            <a:r>
              <a:rPr lang="zh-CN" sz="2700" b="1">
                <a:solidFill>
                  <a:srgbClr val="1E3A8A"/>
                </a:solidFill>
                <a:latin typeface="Aptos"/>
                <a:ea typeface="Microsoft YaHei"/>
                <a:cs typeface="Microsoft YaHei"/>
              </a:rPr>
              <a:t>仅提升 reflection consistency 还不够。</a:t>
            </a:r>
          </a:p>
        </p:txBody>
      </p:sp>
      <p:sp>
        <p:nvSpPr>
          <p:cNvPr id="30" name="mesh bullets"/>
          <p:cNvSpPr txBox="1"/>
          <p:nvPr/>
        </p:nvSpPr>
        <p:spPr>
          <a:xfrm>
            <a:off x="1234440" y="2971800"/>
            <a:ext cx="9692640" cy="1600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zh-CN" sz="15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• 当前结果包没有 Chamfer / F-score / normal MAE 等独立几何指标</a:t>
            </a:r>
          </a:p>
          <a:p>
            <a:pPr algn="l"/>
            <a:r>
              <a:rPr lang="zh-CN" sz="15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• confidence-aware geometry filtering 只能作为工程增强模块讨论</a:t>
            </a:r>
          </a:p>
          <a:p>
            <a:pPr algn="l"/>
            <a:r>
              <a:rPr lang="zh-CN" sz="15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• reflection consistency 更像内部诊断指标，而不是最终表面质量指标</a:t>
            </a:r>
          </a:p>
          <a:p>
            <a:pPr algn="l"/>
            <a:r>
              <a:rPr lang="zh-CN" sz="15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• 下一步必须证明 RC inconsistency 与 mesh artifact 有空间对应关系</a:t>
            </a:r>
          </a:p>
        </p:txBody>
      </p:sp>
      <p:sp>
        <p:nvSpPr>
          <p:cNvPr id="40" name="warning"/>
          <p:cNvSpPr txBox="1"/>
          <p:nvPr/>
        </p:nvSpPr>
        <p:spPr>
          <a:xfrm>
            <a:off x="1005840" y="5074920"/>
            <a:ext cx="10058400" cy="548640"/>
          </a:xfrm>
          <a:prstGeom prst="roundRect">
            <a:avLst/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lIns="91440" tIns="45720" rIns="91440" bIns="45720"/>
          <a:lstStyle/>
          <a:p>
            <a:pPr algn="c"/>
            <a:r>
              <a:rPr lang="zh-CN" sz="1500" b="1">
                <a:solidFill>
                  <a:srgbClr val="DC2626"/>
                </a:solidFill>
                <a:latin typeface="Aptos"/>
                <a:ea typeface="Microsoft YaHei"/>
                <a:cs typeface="Microsoft YaHei"/>
              </a:rPr>
              <a:t>Unsafe claim：RC 必然提升 mesh quality。Safe claim：mesh quality 需要独立评估。</a:t>
            </a:r>
          </a:p>
        </p:txBody>
      </p:sp>
      <p:sp>
        <p:nvSpPr>
          <p:cNvPr id="912" name="scope"/>
          <p:cNvSpPr txBox="1"/>
          <p:nvPr/>
        </p:nvSpPr>
        <p:spPr>
          <a:xfrm>
            <a:off x="502920" y="6419088"/>
            <a:ext cx="877824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800" b="0">
                <a:solidFill>
                  <a:srgbClr val="64748B"/>
                </a:solidFill>
                <a:latin typeface="Aptos"/>
                <a:ea typeface="Microsoft YaHei"/>
                <a:cs typeface="Microsoft YaHei"/>
              </a:rPr>
              <a:t>Scope: FD-P2-lite / non-Shiny-Real / completed runs</a:t>
            </a:r>
          </a:p>
        </p:txBody>
      </p:sp>
      <p:sp>
        <p:nvSpPr>
          <p:cNvPr id="962" name="page"/>
          <p:cNvSpPr txBox="1"/>
          <p:nvPr/>
        </p:nvSpPr>
        <p:spPr>
          <a:xfrm>
            <a:off x="11109960" y="6419088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zh-CN" sz="800" b="0">
                <a:solidFill>
                  <a:srgbClr val="64748B"/>
                </a:solidFill>
                <a:latin typeface="Aptos"/>
                <a:ea typeface="Microsoft YaHei"/>
                <a:cs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9998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2500" b="1">
                <a:solidFill>
                  <a:srgbClr val="1E3A8A"/>
                </a:solidFill>
                <a:latin typeface="Aptos"/>
                <a:ea typeface="Microsoft YaHei"/>
                <a:cs typeface="Microsoft YaHei"/>
              </a:rPr>
              <a:t>Future direction：从 consistency-only 到 geometry-aware RC</a:t>
            </a:r>
          </a:p>
        </p:txBody>
      </p:sp>
      <p:sp>
        <p:nvSpPr>
          <p:cNvPr id="4" name="rule"/>
          <p:cNvSpPr/>
          <p:nvPr/>
        </p:nvSpPr>
        <p:spPr>
          <a:xfrm>
            <a:off x="502920" y="1024128"/>
            <a:ext cx="11201400" cy="13716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</p:sp>
      <p:sp>
        <p:nvSpPr>
          <p:cNvPr id="20" name="A. RC as diagnostic regularizer"/>
          <p:cNvSpPr/>
          <p:nvPr/>
        </p:nvSpPr>
        <p:spPr>
          <a:xfrm>
            <a:off x="777240" y="1417320"/>
            <a:ext cx="3246120" cy="1920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20" name="A. RC as diagnostic regularizer head"/>
          <p:cNvSpPr txBox="1"/>
          <p:nvPr/>
        </p:nvSpPr>
        <p:spPr>
          <a:xfrm>
            <a:off x="850392" y="1472184"/>
            <a:ext cx="309981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200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A. RC as diagnostic regularizer</a:t>
            </a:r>
          </a:p>
        </p:txBody>
      </p:sp>
      <p:sp>
        <p:nvSpPr>
          <p:cNvPr id="220" name="A. RC as diagnostic regularizer body"/>
          <p:cNvSpPr txBox="1"/>
          <p:nvPr/>
        </p:nvSpPr>
        <p:spPr>
          <a:xfrm>
            <a:off x="850392" y="1764792"/>
            <a:ext cx="3099816" cy="15361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0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保留 reflection consistency</a:t>
            </a:r>
          </a:p>
          <a:p>
            <a:pPr algn="l"/>
            <a:r>
              <a:rPr lang="zh-CN" sz="10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指标，作为高反射区域稳定性诊断与轻量正则。</a:t>
            </a:r>
          </a:p>
        </p:txBody>
      </p:sp>
      <p:sp>
        <p:nvSpPr>
          <p:cNvPr id="30" name="B. Geometry-aware RC"/>
          <p:cNvSpPr/>
          <p:nvPr/>
        </p:nvSpPr>
        <p:spPr>
          <a:xfrm>
            <a:off x="4434840" y="1417320"/>
            <a:ext cx="3246120" cy="1920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30" name="B. Geometry-aware RC head"/>
          <p:cNvSpPr txBox="1"/>
          <p:nvPr/>
        </p:nvSpPr>
        <p:spPr>
          <a:xfrm>
            <a:off x="4507992" y="1472184"/>
            <a:ext cx="309981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200" b="1">
                <a:solidFill>
                  <a:srgbClr val="059669"/>
                </a:solidFill>
                <a:latin typeface="Aptos"/>
                <a:ea typeface="Microsoft YaHei"/>
                <a:cs typeface="Microsoft YaHei"/>
              </a:rPr>
              <a:t>B. Geometry-aware RC</a:t>
            </a:r>
          </a:p>
        </p:txBody>
      </p:sp>
      <p:sp>
        <p:nvSpPr>
          <p:cNvPr id="230" name="B. Geometry-aware RC body"/>
          <p:cNvSpPr txBox="1"/>
          <p:nvPr/>
        </p:nvSpPr>
        <p:spPr>
          <a:xfrm>
            <a:off x="4507992" y="1764792"/>
            <a:ext cx="3099816" cy="15361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0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联合约束 specular、depth、normal</a:t>
            </a:r>
          </a:p>
          <a:p>
            <a:pPr algn="l"/>
            <a:r>
              <a:rPr lang="zh-CN" sz="10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、alpha，并引入 view-angle-</a:t>
            </a:r>
          </a:p>
          <a:p>
            <a:pPr algn="l"/>
            <a:r>
              <a:rPr lang="zh-CN" sz="10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aware weighting。</a:t>
            </a:r>
          </a:p>
        </p:txBody>
      </p:sp>
      <p:sp>
        <p:nvSpPr>
          <p:cNvPr id="40" name="C. Mesh-aware RC filtering"/>
          <p:cNvSpPr/>
          <p:nvPr/>
        </p:nvSpPr>
        <p:spPr>
          <a:xfrm>
            <a:off x="8092440" y="1417320"/>
            <a:ext cx="3246120" cy="1920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40" name="C. Mesh-aware RC filtering head"/>
          <p:cNvSpPr txBox="1"/>
          <p:nvPr/>
        </p:nvSpPr>
        <p:spPr>
          <a:xfrm>
            <a:off x="8165592" y="1472184"/>
            <a:ext cx="309981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200" b="1">
                <a:solidFill>
                  <a:srgbClr val="7C3AED"/>
                </a:solidFill>
                <a:latin typeface="Aptos"/>
                <a:ea typeface="Microsoft YaHei"/>
                <a:cs typeface="Microsoft YaHei"/>
              </a:rPr>
              <a:t>C. Mesh-aware RC filtering</a:t>
            </a:r>
          </a:p>
        </p:txBody>
      </p:sp>
      <p:sp>
        <p:nvSpPr>
          <p:cNvPr id="240" name="C. Mesh-aware RC filtering body"/>
          <p:cNvSpPr txBox="1"/>
          <p:nvPr/>
        </p:nvSpPr>
        <p:spPr>
          <a:xfrm>
            <a:off x="8165592" y="1764792"/>
            <a:ext cx="3099816" cy="15361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0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将 RC inconsistency 转化为</a:t>
            </a:r>
          </a:p>
          <a:p>
            <a:pPr algn="l"/>
            <a:r>
              <a:rPr lang="zh-CN" sz="10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TSDF / mesh fusion</a:t>
            </a:r>
          </a:p>
          <a:p>
            <a:pPr algn="l"/>
            <a:r>
              <a:rPr lang="zh-CN" sz="10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confidence，而不是直接声称质量提升。</a:t>
            </a:r>
          </a:p>
        </p:txBody>
      </p:sp>
      <p:sp>
        <p:nvSpPr>
          <p:cNvPr id="50" name="future bottom"/>
          <p:cNvSpPr txBox="1"/>
          <p:nvPr/>
        </p:nvSpPr>
        <p:spPr>
          <a:xfrm>
            <a:off x="868680" y="48006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zh-CN" sz="1600" b="1">
                <a:solidFill>
                  <a:srgbClr val="1E3A8A"/>
                </a:solidFill>
                <a:latin typeface="Aptos"/>
                <a:ea typeface="Microsoft YaHei"/>
                <a:cs typeface="Microsoft YaHei"/>
              </a:rPr>
              <a:t>策略转向：让 RC 解释并筛除反射导致的几何不可靠区域，而不是单独优化反射 RGB 指标。</a:t>
            </a:r>
          </a:p>
        </p:txBody>
      </p:sp>
      <p:sp>
        <p:nvSpPr>
          <p:cNvPr id="913" name="scope"/>
          <p:cNvSpPr txBox="1"/>
          <p:nvPr/>
        </p:nvSpPr>
        <p:spPr>
          <a:xfrm>
            <a:off x="502920" y="6419088"/>
            <a:ext cx="877824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800" b="0">
                <a:solidFill>
                  <a:srgbClr val="64748B"/>
                </a:solidFill>
                <a:latin typeface="Aptos"/>
                <a:ea typeface="Microsoft YaHei"/>
                <a:cs typeface="Microsoft YaHei"/>
              </a:rPr>
              <a:t>Scope: FD-P2-lite / non-Shiny-Real / completed runs</a:t>
            </a:r>
          </a:p>
        </p:txBody>
      </p:sp>
      <p:sp>
        <p:nvSpPr>
          <p:cNvPr id="963" name="page"/>
          <p:cNvSpPr txBox="1"/>
          <p:nvPr/>
        </p:nvSpPr>
        <p:spPr>
          <a:xfrm>
            <a:off x="11109960" y="6419088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zh-CN" sz="800" b="0">
                <a:solidFill>
                  <a:srgbClr val="64748B"/>
                </a:solidFill>
                <a:latin typeface="Aptos"/>
                <a:ea typeface="Microsoft YaHei"/>
                <a:cs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9998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2500" b="1">
                <a:solidFill>
                  <a:srgbClr val="1E3A8A"/>
                </a:solidFill>
                <a:latin typeface="Aptos"/>
                <a:ea typeface="Microsoft YaHei"/>
                <a:cs typeface="Microsoft YaHei"/>
              </a:rPr>
              <a:t>Next experiments：补齐从 RC 到 geometry 的证据链</a:t>
            </a:r>
          </a:p>
        </p:txBody>
      </p:sp>
      <p:sp>
        <p:nvSpPr>
          <p:cNvPr id="4" name="rule"/>
          <p:cNvSpPr/>
          <p:nvPr/>
        </p:nvSpPr>
        <p:spPr>
          <a:xfrm>
            <a:off x="502920" y="1024128"/>
            <a:ext cx="11201400" cy="13716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</p:sp>
      <p:sp>
        <p:nvSpPr>
          <p:cNvPr id="20" name="left"/>
          <p:cNvSpPr txBox="1"/>
          <p:nvPr/>
        </p:nvSpPr>
        <p:spPr>
          <a:xfrm>
            <a:off x="868680" y="1417320"/>
            <a:ext cx="5120640" cy="2834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zh-CN" sz="15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• Chamfer / F-score / normal MAE</a:t>
            </a:r>
          </a:p>
          <a:p>
            <a:pPr algn="l"/>
            <a:r>
              <a:rPr lang="zh-CN" sz="15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• RC mask 与 mesh artifact overlap</a:t>
            </a:r>
          </a:p>
          <a:p>
            <a:pPr algn="l"/>
            <a:r>
              <a:rPr lang="zh-CN" sz="15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• valid correspondence ratio</a:t>
            </a:r>
          </a:p>
          <a:p>
            <a:pPr algn="l"/>
            <a:r>
              <a:rPr lang="zh-CN" sz="15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• depth pass rate / normal agreement</a:t>
            </a:r>
          </a:p>
          <a:p>
            <a:pPr algn="l"/>
            <a:r>
              <a:rPr lang="zh-CN" sz="15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• pair angle distribution</a:t>
            </a:r>
          </a:p>
        </p:txBody>
      </p:sp>
      <p:sp>
        <p:nvSpPr>
          <p:cNvPr id="30" name="right"/>
          <p:cNvSpPr txBox="1"/>
          <p:nvPr/>
        </p:nvSpPr>
        <p:spPr>
          <a:xfrm>
            <a:off x="6263640" y="1417320"/>
            <a:ext cx="4983480" cy="2834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zh-CN" sz="15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• mean RC weight / weight sum</a:t>
            </a:r>
          </a:p>
          <a:p>
            <a:pPr algn="l"/>
            <a:r>
              <a:rPr lang="zh-CN" sz="15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• specular confidence distribution</a:t>
            </a:r>
          </a:p>
          <a:p>
            <a:pPr algn="l"/>
            <a:r>
              <a:rPr lang="zh-CN" sz="15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• reflective mask area ratio</a:t>
            </a:r>
          </a:p>
          <a:p>
            <a:pPr algn="l"/>
            <a:r>
              <a:rPr lang="zh-CN" sz="15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• specular variance / highlight sharpness</a:t>
            </a:r>
          </a:p>
          <a:p>
            <a:pPr algn="l"/>
            <a:r>
              <a:rPr lang="zh-CN" sz="15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• lambda_RC / schedule sweep</a:t>
            </a:r>
          </a:p>
        </p:txBody>
      </p:sp>
      <p:sp>
        <p:nvSpPr>
          <p:cNvPr id="40" name="next claim"/>
          <p:cNvSpPr txBox="1"/>
          <p:nvPr/>
        </p:nvSpPr>
        <p:spPr>
          <a:xfrm>
            <a:off x="960120" y="4892040"/>
            <a:ext cx="10058400" cy="640080"/>
          </a:xfrm>
          <a:prstGeom prst="roundRect">
            <a:avLst/>
          </a:prstGeom>
          <a:solidFill>
            <a:srgbClr val="EEF6FF"/>
          </a:solidFill>
          <a:ln w="9525">
            <a:solidFill>
              <a:srgbClr val="BFDBFE"/>
            </a:solidFill>
          </a:ln>
        </p:spPr>
        <p:txBody>
          <a:bodyPr wrap="square" lIns="91440" tIns="45720" rIns="91440" bIns="45720"/>
          <a:lstStyle/>
          <a:p>
            <a:pPr algn="c"/>
            <a:r>
              <a:rPr lang="zh-CN" sz="1700" b="1">
                <a:solidFill>
                  <a:srgbClr val="1E3A8A"/>
                </a:solidFill>
                <a:latin typeface="Aptos"/>
                <a:ea typeface="Microsoft YaHei"/>
                <a:cs typeface="Microsoft YaHei"/>
              </a:rPr>
              <a:t>这些诊断可以回答：RC 改善的是反射稳定性，还是确实减少了几何伪影？</a:t>
            </a:r>
          </a:p>
        </p:txBody>
      </p:sp>
      <p:sp>
        <p:nvSpPr>
          <p:cNvPr id="914" name="scope"/>
          <p:cNvSpPr txBox="1"/>
          <p:nvPr/>
        </p:nvSpPr>
        <p:spPr>
          <a:xfrm>
            <a:off x="502920" y="6419088"/>
            <a:ext cx="877824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800" b="0">
                <a:solidFill>
                  <a:srgbClr val="64748B"/>
                </a:solidFill>
                <a:latin typeface="Aptos"/>
                <a:ea typeface="Microsoft YaHei"/>
                <a:cs typeface="Microsoft YaHei"/>
              </a:rPr>
              <a:t>Scope: FD-P2-lite / non-Shiny-Real / completed runs</a:t>
            </a:r>
          </a:p>
        </p:txBody>
      </p:sp>
      <p:sp>
        <p:nvSpPr>
          <p:cNvPr id="964" name="page"/>
          <p:cNvSpPr txBox="1"/>
          <p:nvPr/>
        </p:nvSpPr>
        <p:spPr>
          <a:xfrm>
            <a:off x="11109960" y="6419088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zh-CN" sz="800" b="0">
                <a:solidFill>
                  <a:srgbClr val="64748B"/>
                </a:solidFill>
                <a:latin typeface="Aptos"/>
                <a:ea typeface="Microsoft YaHei"/>
                <a:cs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9998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2500" b="1">
                <a:solidFill>
                  <a:srgbClr val="1E3A8A"/>
                </a:solidFill>
                <a:latin typeface="Aptos"/>
                <a:ea typeface="Microsoft YaHei"/>
                <a:cs typeface="Microsoft YaHei"/>
              </a:rPr>
              <a:t>Conclusion：RC 有价值，但主张必须降级并转向几何验证</a:t>
            </a:r>
          </a:p>
        </p:txBody>
      </p:sp>
      <p:sp>
        <p:nvSpPr>
          <p:cNvPr id="4" name="rule"/>
          <p:cNvSpPr/>
          <p:nvPr/>
        </p:nvSpPr>
        <p:spPr>
          <a:xfrm>
            <a:off x="502920" y="1024128"/>
            <a:ext cx="11201400" cy="13716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</p:sp>
      <p:sp>
        <p:nvSpPr>
          <p:cNvPr id="20" name="已支持"/>
          <p:cNvSpPr/>
          <p:nvPr/>
        </p:nvSpPr>
        <p:spPr>
          <a:xfrm>
            <a:off x="914400" y="1234440"/>
            <a:ext cx="1024128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20" name="已支持 head"/>
          <p:cNvSpPr txBox="1"/>
          <p:nvPr/>
        </p:nvSpPr>
        <p:spPr>
          <a:xfrm>
            <a:off x="987552" y="1289304"/>
            <a:ext cx="1009497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200" b="1">
                <a:solidFill>
                  <a:srgbClr val="059669"/>
                </a:solidFill>
                <a:latin typeface="Aptos"/>
                <a:ea typeface="Microsoft YaHei"/>
                <a:cs typeface="Microsoft YaHei"/>
              </a:rPr>
              <a:t>已支持</a:t>
            </a:r>
          </a:p>
        </p:txBody>
      </p:sp>
      <p:sp>
        <p:nvSpPr>
          <p:cNvPr id="220" name="已支持 body"/>
          <p:cNvSpPr txBox="1"/>
          <p:nvPr/>
        </p:nvSpPr>
        <p:spPr>
          <a:xfrm>
            <a:off x="987552" y="1581912"/>
            <a:ext cx="10094976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0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RC 在完成范围内稳定改善 cross-view</a:t>
            </a:r>
          </a:p>
          <a:p>
            <a:pPr algn="l"/>
            <a:r>
              <a:rPr lang="zh-CN" sz="10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reflection consistency</a:t>
            </a:r>
          </a:p>
        </p:txBody>
      </p:sp>
      <p:sp>
        <p:nvSpPr>
          <p:cNvPr id="30" name="未支持"/>
          <p:cNvSpPr/>
          <p:nvPr/>
        </p:nvSpPr>
        <p:spPr>
          <a:xfrm>
            <a:off x="914400" y="2194560"/>
            <a:ext cx="1024128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30" name="未支持 head"/>
          <p:cNvSpPr txBox="1"/>
          <p:nvPr/>
        </p:nvSpPr>
        <p:spPr>
          <a:xfrm>
            <a:off x="987552" y="2249424"/>
            <a:ext cx="1009497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200" b="1">
                <a:solidFill>
                  <a:srgbClr val="DC2626"/>
                </a:solidFill>
                <a:latin typeface="Aptos"/>
                <a:ea typeface="Microsoft YaHei"/>
                <a:cs typeface="Microsoft YaHei"/>
              </a:rPr>
              <a:t>未支持</a:t>
            </a:r>
          </a:p>
        </p:txBody>
      </p:sp>
      <p:sp>
        <p:nvSpPr>
          <p:cNvPr id="230" name="未支持 body"/>
          <p:cNvSpPr txBox="1"/>
          <p:nvPr/>
        </p:nvSpPr>
        <p:spPr>
          <a:xfrm>
            <a:off x="987552" y="2542032"/>
            <a:ext cx="10094976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0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Refl. PSNR / SSIM / LPIPS</a:t>
            </a:r>
          </a:p>
          <a:p>
            <a:pPr algn="l"/>
            <a:r>
              <a:rPr lang="zh-CN" sz="10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和 mesh quality 的稳定提升</a:t>
            </a:r>
          </a:p>
        </p:txBody>
      </p:sp>
      <p:sp>
        <p:nvSpPr>
          <p:cNvPr id="40" name="当前定位"/>
          <p:cNvSpPr/>
          <p:nvPr/>
        </p:nvSpPr>
        <p:spPr>
          <a:xfrm>
            <a:off x="914400" y="3154680"/>
            <a:ext cx="1024128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40" name="当前定位 head"/>
          <p:cNvSpPr txBox="1"/>
          <p:nvPr/>
        </p:nvSpPr>
        <p:spPr>
          <a:xfrm>
            <a:off x="987552" y="3209544"/>
            <a:ext cx="1009497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200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当前定位</a:t>
            </a:r>
          </a:p>
        </p:txBody>
      </p:sp>
      <p:sp>
        <p:nvSpPr>
          <p:cNvPr id="240" name="当前定位 body"/>
          <p:cNvSpPr txBox="1"/>
          <p:nvPr/>
        </p:nvSpPr>
        <p:spPr>
          <a:xfrm>
            <a:off x="987552" y="3502152"/>
            <a:ext cx="10094976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0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reflection consistency</a:t>
            </a:r>
          </a:p>
          <a:p>
            <a:pPr algn="l"/>
            <a:r>
              <a:rPr lang="zh-CN" sz="10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regularizer / diagnostic</a:t>
            </a:r>
          </a:p>
          <a:p>
            <a:pPr algn="l"/>
            <a:r>
              <a:rPr lang="zh-CN" sz="10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module</a:t>
            </a:r>
          </a:p>
        </p:txBody>
      </p:sp>
      <p:sp>
        <p:nvSpPr>
          <p:cNvPr id="50" name="下一阶段"/>
          <p:cNvSpPr/>
          <p:nvPr/>
        </p:nvSpPr>
        <p:spPr>
          <a:xfrm>
            <a:off x="914400" y="4114800"/>
            <a:ext cx="1024128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50" name="下一阶段 head"/>
          <p:cNvSpPr txBox="1"/>
          <p:nvPr/>
        </p:nvSpPr>
        <p:spPr>
          <a:xfrm>
            <a:off x="987552" y="4169664"/>
            <a:ext cx="1009497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200" b="1">
                <a:solidFill>
                  <a:srgbClr val="7C3AED"/>
                </a:solidFill>
                <a:latin typeface="Aptos"/>
                <a:ea typeface="Microsoft YaHei"/>
                <a:cs typeface="Microsoft YaHei"/>
              </a:rPr>
              <a:t>下一阶段</a:t>
            </a:r>
          </a:p>
        </p:txBody>
      </p:sp>
      <p:sp>
        <p:nvSpPr>
          <p:cNvPr id="250" name="下一阶段 body"/>
          <p:cNvSpPr txBox="1"/>
          <p:nvPr/>
        </p:nvSpPr>
        <p:spPr>
          <a:xfrm>
            <a:off x="987552" y="4462272"/>
            <a:ext cx="10094976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0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geometry-aware RC 与 mesh-</a:t>
            </a:r>
          </a:p>
          <a:p>
            <a:pPr algn="l"/>
            <a:r>
              <a:rPr lang="zh-CN" sz="1000" b="0">
                <a:solidFill>
                  <a:srgbClr val="1F2937"/>
                </a:solidFill>
                <a:latin typeface="Aptos"/>
                <a:ea typeface="Microsoft YaHei"/>
                <a:cs typeface="Microsoft YaHei"/>
              </a:rPr>
              <a:t>aware RC filtering</a:t>
            </a:r>
          </a:p>
        </p:txBody>
      </p:sp>
      <p:sp>
        <p:nvSpPr>
          <p:cNvPr id="90" name="end"/>
          <p:cNvSpPr txBox="1"/>
          <p:nvPr/>
        </p:nvSpPr>
        <p:spPr>
          <a:xfrm>
            <a:off x="960120" y="5715000"/>
            <a:ext cx="1014984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zh-CN" sz="1500" b="1">
                <a:solidFill>
                  <a:srgbClr val="1E3A8A"/>
                </a:solidFill>
                <a:latin typeface="Aptos"/>
                <a:ea typeface="Microsoft YaHei"/>
                <a:cs typeface="Microsoft YaHei"/>
              </a:rPr>
              <a:t>一句话总结：RC 证明了反射一致性可以被显式优化，但还没有证明它能稳定转化为 RGB 或 mesh 质量。</a:t>
            </a:r>
          </a:p>
        </p:txBody>
      </p:sp>
      <p:sp>
        <p:nvSpPr>
          <p:cNvPr id="915" name="scope"/>
          <p:cNvSpPr txBox="1"/>
          <p:nvPr/>
        </p:nvSpPr>
        <p:spPr>
          <a:xfrm>
            <a:off x="502920" y="6419088"/>
            <a:ext cx="877824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800" b="0">
                <a:solidFill>
                  <a:srgbClr val="64748B"/>
                </a:solidFill>
                <a:latin typeface="Aptos"/>
                <a:ea typeface="Microsoft YaHei"/>
                <a:cs typeface="Microsoft YaHei"/>
              </a:rPr>
              <a:t>Scope: FD-P2-lite / non-Shiny-Real / completed runs</a:t>
            </a:r>
          </a:p>
        </p:txBody>
      </p:sp>
      <p:sp>
        <p:nvSpPr>
          <p:cNvPr id="965" name="page"/>
          <p:cNvSpPr txBox="1"/>
          <p:nvPr/>
        </p:nvSpPr>
        <p:spPr>
          <a:xfrm>
            <a:off x="11109960" y="6419088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zh-CN" sz="800" b="0">
                <a:solidFill>
                  <a:srgbClr val="64748B"/>
                </a:solidFill>
                <a:latin typeface="Aptos"/>
                <a:ea typeface="Microsoft YaHei"/>
                <a:cs typeface="Microsoft YaHe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CModules">
  <a:themeElements>
    <a:clrScheme name="RCModules">
      <a:dk1>
        <a:srgbClr val="111827"/>
      </a:dk1>
      <a:lt1>
        <a:srgbClr val="FFFFFF"/>
      </a:lt1>
      <a:dk2>
        <a:srgbClr val="1F2937"/>
      </a:dk2>
      <a:lt2>
        <a:srgbClr val="F8FAFC"/>
      </a:lt2>
      <a:accent1>
        <a:srgbClr val="2563EB"/>
      </a:accent1>
      <a:accent2>
        <a:srgbClr val="059669"/>
      </a:accent2>
      <a:accent3>
        <a:srgbClr val="D97706"/>
      </a:accent3>
      <a:accent4>
        <a:srgbClr val="7C3AED"/>
      </a:accent4>
      <a:accent5>
        <a:srgbClr val="DC2626"/>
      </a:accent5>
      <a:accent6>
        <a:srgbClr val="64748B"/>
      </a:accent6>
      <a:hlink>
        <a:srgbClr val="2563EB"/>
      </a:hlink>
      <a:folHlink>
        <a:srgbClr val="7C3AED"/>
      </a:folHlink>
    </a:clrScheme>
    <a:fontScheme name="RCFonts">
      <a:majorFont>
        <a:latin typeface="Aptos"/>
        <a:ea typeface="Microsoft YaHei"/>
        <a:cs typeface="Microsoft YaHei"/>
      </a:majorFont>
      <a:minorFont>
        <a:latin typeface="Aptos"/>
        <a:ea typeface="Microsoft YaHei"/>
        <a:cs typeface="Microsoft YaHei"/>
      </a:minorFont>
    </a:fontScheme>
    <a:fmtScheme name="RCFm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